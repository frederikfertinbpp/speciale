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0" r:id="rId5"/>
    <p:sldId id="258" r:id="rId6"/>
    <p:sldId id="264" r:id="rId7"/>
    <p:sldId id="259" r:id="rId8"/>
    <p:sldId id="262" r:id="rId9"/>
    <p:sldId id="266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Skou Fertin" userId="8951aed8-7c9b-49ea-93bd-9fdf65fe1278" providerId="ADAL" clId="{52328F1A-3464-4CA4-80EE-9397D4A6680C}"/>
    <pc:docChg chg="modSld">
      <pc:chgData name="Frederik Skou Fertin" userId="8951aed8-7c9b-49ea-93bd-9fdf65fe1278" providerId="ADAL" clId="{52328F1A-3464-4CA4-80EE-9397D4A6680C}" dt="2026-04-10T13:17:29.175" v="108" actId="1076"/>
      <pc:docMkLst>
        <pc:docMk/>
      </pc:docMkLst>
      <pc:sldChg chg="modSp mod">
        <pc:chgData name="Frederik Skou Fertin" userId="8951aed8-7c9b-49ea-93bd-9fdf65fe1278" providerId="ADAL" clId="{52328F1A-3464-4CA4-80EE-9397D4A6680C}" dt="2026-04-10T13:17:29.175" v="108" actId="1076"/>
        <pc:sldMkLst>
          <pc:docMk/>
          <pc:sldMk cId="3801428020" sldId="262"/>
        </pc:sldMkLst>
        <pc:picChg chg="mod ord">
          <ac:chgData name="Frederik Skou Fertin" userId="8951aed8-7c9b-49ea-93bd-9fdf65fe1278" providerId="ADAL" clId="{52328F1A-3464-4CA4-80EE-9397D4A6680C}" dt="2026-04-10T13:17:29.175" v="108" actId="1076"/>
          <ac:picMkLst>
            <pc:docMk/>
            <pc:sldMk cId="3801428020" sldId="262"/>
            <ac:picMk id="7" creationId="{98A6B510-8077-2A79-98EE-299D44F344FE}"/>
          </ac:picMkLst>
        </pc:picChg>
        <pc:picChg chg="mod">
          <ac:chgData name="Frederik Skou Fertin" userId="8951aed8-7c9b-49ea-93bd-9fdf65fe1278" providerId="ADAL" clId="{52328F1A-3464-4CA4-80EE-9397D4A6680C}" dt="2026-04-10T09:22:19.944" v="1" actId="1076"/>
          <ac:picMkLst>
            <pc:docMk/>
            <pc:sldMk cId="3801428020" sldId="262"/>
            <ac:picMk id="9" creationId="{1014166E-52B3-7D74-5881-120F376D3345}"/>
          </ac:picMkLst>
        </pc:picChg>
        <pc:picChg chg="mod ord">
          <ac:chgData name="Frederik Skou Fertin" userId="8951aed8-7c9b-49ea-93bd-9fdf65fe1278" providerId="ADAL" clId="{52328F1A-3464-4CA4-80EE-9397D4A6680C}" dt="2026-04-10T09:30:54.906" v="9" actId="1076"/>
          <ac:picMkLst>
            <pc:docMk/>
            <pc:sldMk cId="3801428020" sldId="262"/>
            <ac:picMk id="11" creationId="{2A31FF7E-7690-407B-8AB0-143CC71BA0EA}"/>
          </ac:picMkLst>
        </pc:picChg>
      </pc:sldChg>
      <pc:sldChg chg="modNotesTx">
        <pc:chgData name="Frederik Skou Fertin" userId="8951aed8-7c9b-49ea-93bd-9fdf65fe1278" providerId="ADAL" clId="{52328F1A-3464-4CA4-80EE-9397D4A6680C}" dt="2026-04-10T09:41:57.049" v="107" actId="20577"/>
        <pc:sldMkLst>
          <pc:docMk/>
          <pc:sldMk cId="3159141155" sldId="26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tudk-my.sharepoint.com/personal/fskfe_dtu_dk/Documents/Dokumenter/DTU_Man/Speciale/setup_files/haber_bosch_technicals%20-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tudk-my.sharepoint.com/personal/fskfe_dtu_dk/Documents/Dokumenter/DTU_Man/Speciale/setup_files/haber_bosch_technicals%20-%20Cop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tudk-my.sharepoint.com/personal/fskfe_dtu_dk/Documents/Dokumenter/DTU_Man/Speciale/setup_files/haber_bosch_technicals%20-%20Cop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a-DK" dirty="0" err="1"/>
              <a:t>Specific</a:t>
            </a:r>
            <a:r>
              <a:rPr lang="da-DK" baseline="0" dirty="0"/>
              <a:t> </a:t>
            </a:r>
            <a:r>
              <a:rPr lang="da-DK" baseline="0" dirty="0" err="1"/>
              <a:t>electricity</a:t>
            </a:r>
            <a:r>
              <a:rPr lang="da-DK" baseline="0" dirty="0"/>
              <a:t> </a:t>
            </a:r>
            <a:r>
              <a:rPr lang="da-DK" baseline="0" dirty="0" err="1"/>
              <a:t>consumption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'Haber-Bosch'!$E$13</c:f>
              <c:strCache>
                <c:ptCount val="1"/>
                <c:pt idx="0">
                  <c:v>MWh/t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'Haber-Bosch'!$B$14:$B$22</c:f>
              <c:numCache>
                <c:formatCode>General</c:formatCode>
                <c:ptCount val="9"/>
                <c:pt idx="0">
                  <c:v>10.7</c:v>
                </c:pt>
                <c:pt idx="1">
                  <c:v>15</c:v>
                </c:pt>
                <c:pt idx="2">
                  <c:v>20</c:v>
                </c:pt>
                <c:pt idx="3">
                  <c:v>24.7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65</c:v>
                </c:pt>
                <c:pt idx="8">
                  <c:v>100</c:v>
                </c:pt>
              </c:numCache>
            </c:numRef>
          </c:xVal>
          <c:yVal>
            <c:numRef>
              <c:f>'Haber-Bosch'!$E$14:$E$22</c:f>
              <c:numCache>
                <c:formatCode>0.00</c:formatCode>
                <c:ptCount val="9"/>
                <c:pt idx="0">
                  <c:v>4.0277777777777777</c:v>
                </c:pt>
                <c:pt idx="1">
                  <c:v>2.9861111111111112</c:v>
                </c:pt>
                <c:pt idx="2">
                  <c:v>2.2916666666666665</c:v>
                </c:pt>
                <c:pt idx="3">
                  <c:v>1.875</c:v>
                </c:pt>
                <c:pt idx="4">
                  <c:v>1.6388888888888888</c:v>
                </c:pt>
                <c:pt idx="5">
                  <c:v>1.3888888888888888</c:v>
                </c:pt>
                <c:pt idx="6">
                  <c:v>1.2916666666666667</c:v>
                </c:pt>
                <c:pt idx="7">
                  <c:v>1.1805555555555556</c:v>
                </c:pt>
                <c:pt idx="8">
                  <c:v>1.1388888888888888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46-47AA-9B87-FD0D20F11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40496367"/>
        <c:axId val="1240496847"/>
      </c:scatterChart>
      <c:valAx>
        <c:axId val="1240496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Load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496847"/>
        <c:crosses val="autoZero"/>
        <c:crossBetween val="midCat"/>
      </c:valAx>
      <c:valAx>
        <c:axId val="1240496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MWh / t_NH3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4963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Electricity</a:t>
            </a:r>
            <a:r>
              <a:rPr lang="en-US" baseline="0"/>
              <a:t> consumption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'Haber-Bosch'!$F$13</c:f>
              <c:strCache>
                <c:ptCount val="1"/>
                <c:pt idx="0">
                  <c:v>MWh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'Haber-Bosch'!$B$14:$B$22</c:f>
              <c:numCache>
                <c:formatCode>General</c:formatCode>
                <c:ptCount val="9"/>
                <c:pt idx="0">
                  <c:v>10.7</c:v>
                </c:pt>
                <c:pt idx="1">
                  <c:v>15</c:v>
                </c:pt>
                <c:pt idx="2">
                  <c:v>20</c:v>
                </c:pt>
                <c:pt idx="3">
                  <c:v>24.7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65</c:v>
                </c:pt>
                <c:pt idx="8">
                  <c:v>100</c:v>
                </c:pt>
              </c:numCache>
            </c:numRef>
          </c:xVal>
          <c:yVal>
            <c:numRef>
              <c:f>'Haber-Bosch'!$F$14:$F$22</c:f>
              <c:numCache>
                <c:formatCode>General</c:formatCode>
                <c:ptCount val="9"/>
                <c:pt idx="0">
                  <c:v>0.4309722222222222</c:v>
                </c:pt>
                <c:pt idx="1">
                  <c:v>0.44791666666666663</c:v>
                </c:pt>
                <c:pt idx="2">
                  <c:v>0.45833333333333326</c:v>
                </c:pt>
                <c:pt idx="3">
                  <c:v>0.46312500000000001</c:v>
                </c:pt>
                <c:pt idx="4">
                  <c:v>0.49166666666666664</c:v>
                </c:pt>
                <c:pt idx="5">
                  <c:v>0.55555555555555558</c:v>
                </c:pt>
                <c:pt idx="6">
                  <c:v>0.64583333333333348</c:v>
                </c:pt>
                <c:pt idx="7">
                  <c:v>0.76736111111111116</c:v>
                </c:pt>
                <c:pt idx="8">
                  <c:v>1.1388888888888888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C8-4890-924C-0D9EC1A50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198335"/>
        <c:axId val="1428198815"/>
      </c:scatterChart>
      <c:valAx>
        <c:axId val="1428198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Load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815"/>
        <c:crosses val="autoZero"/>
        <c:crossBetween val="midCat"/>
      </c:valAx>
      <c:valAx>
        <c:axId val="1428198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MWh / </a:t>
                </a:r>
                <a:r>
                  <a:rPr lang="en-US" dirty="0" err="1"/>
                  <a:t>t_capacity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3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Electricity</a:t>
            </a:r>
            <a:r>
              <a:rPr lang="en-US" baseline="0"/>
              <a:t> consumption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'Haber-Bosch'!$F$13</c:f>
              <c:strCache>
                <c:ptCount val="1"/>
                <c:pt idx="0">
                  <c:v>MWh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'Haber-Bosch'!$B$14:$B$22</c:f>
              <c:numCache>
                <c:formatCode>General</c:formatCode>
                <c:ptCount val="9"/>
                <c:pt idx="0">
                  <c:v>10.7</c:v>
                </c:pt>
                <c:pt idx="1">
                  <c:v>15</c:v>
                </c:pt>
                <c:pt idx="2">
                  <c:v>20</c:v>
                </c:pt>
                <c:pt idx="3">
                  <c:v>24.7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65</c:v>
                </c:pt>
                <c:pt idx="8">
                  <c:v>100</c:v>
                </c:pt>
              </c:numCache>
            </c:numRef>
          </c:xVal>
          <c:yVal>
            <c:numRef>
              <c:f>'Haber-Bosch'!$F$14:$F$22</c:f>
              <c:numCache>
                <c:formatCode>General</c:formatCode>
                <c:ptCount val="9"/>
                <c:pt idx="0">
                  <c:v>0.4309722222222222</c:v>
                </c:pt>
                <c:pt idx="1">
                  <c:v>0.44791666666666663</c:v>
                </c:pt>
                <c:pt idx="2">
                  <c:v>0.45833333333333326</c:v>
                </c:pt>
                <c:pt idx="3">
                  <c:v>0.46312500000000001</c:v>
                </c:pt>
                <c:pt idx="4">
                  <c:v>0.49166666666666664</c:v>
                </c:pt>
                <c:pt idx="5">
                  <c:v>0.55555555555555558</c:v>
                </c:pt>
                <c:pt idx="6">
                  <c:v>0.64583333333333348</c:v>
                </c:pt>
                <c:pt idx="7">
                  <c:v>0.76736111111111116</c:v>
                </c:pt>
                <c:pt idx="8">
                  <c:v>1.1388888888888888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C8-4890-924C-0D9EC1A50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198335"/>
        <c:axId val="1428198815"/>
      </c:scatterChart>
      <c:valAx>
        <c:axId val="1428198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Load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815"/>
        <c:crosses val="autoZero"/>
        <c:crossBetween val="midCat"/>
      </c:valAx>
      <c:valAx>
        <c:axId val="1428198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MWh / </a:t>
                </a:r>
                <a:r>
                  <a:rPr lang="en-US" dirty="0" err="1"/>
                  <a:t>t_capacity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1983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FFAFC4-AE78-4D0E-BE6A-126ECC091B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884D65-CEB7-48C4-A89A-5BD2A8C17FC1}">
      <dgm:prSet/>
      <dgm:spPr/>
      <dgm:t>
        <a:bodyPr/>
        <a:lstStyle/>
        <a:p>
          <a:r>
            <a:rPr lang="da-DK"/>
            <a:t>Main RQ</a:t>
          </a:r>
          <a:endParaRPr lang="en-US"/>
        </a:p>
      </dgm:t>
    </dgm:pt>
    <dgm:pt modelId="{2F4DC1C8-70FC-42C3-8584-4BF493FBBBD7}" type="parTrans" cxnId="{4DAA9B9D-CBE3-4658-AA83-384197AA9B92}">
      <dgm:prSet/>
      <dgm:spPr/>
      <dgm:t>
        <a:bodyPr/>
        <a:lstStyle/>
        <a:p>
          <a:endParaRPr lang="en-US"/>
        </a:p>
      </dgm:t>
    </dgm:pt>
    <dgm:pt modelId="{4429CE7F-CE51-4831-A736-A5F619ECDC34}" type="sibTrans" cxnId="{4DAA9B9D-CBE3-4658-AA83-384197AA9B92}">
      <dgm:prSet/>
      <dgm:spPr/>
      <dgm:t>
        <a:bodyPr/>
        <a:lstStyle/>
        <a:p>
          <a:endParaRPr lang="en-US"/>
        </a:p>
      </dgm:t>
    </dgm:pt>
    <dgm:pt modelId="{286A135D-8DA6-48E2-B1F6-3CB4C87E6056}">
      <dgm:prSet/>
      <dgm:spPr/>
      <dgm:t>
        <a:bodyPr/>
        <a:lstStyle/>
        <a:p>
          <a:r>
            <a:rPr lang="en-US" dirty="0"/>
            <a:t>How can long-term contractual offtake commitments be effectively integrated into the daily operational planning of a renewable fuel plant?</a:t>
          </a:r>
        </a:p>
      </dgm:t>
    </dgm:pt>
    <dgm:pt modelId="{A10F93D5-522E-4AC4-AA5D-530940E3FB40}" type="parTrans" cxnId="{C922754E-1996-45C3-A650-0AC6F017A6E2}">
      <dgm:prSet/>
      <dgm:spPr/>
      <dgm:t>
        <a:bodyPr/>
        <a:lstStyle/>
        <a:p>
          <a:endParaRPr lang="en-US"/>
        </a:p>
      </dgm:t>
    </dgm:pt>
    <dgm:pt modelId="{66669D72-E166-4507-8E44-FBA3A3BE4F22}" type="sibTrans" cxnId="{C922754E-1996-45C3-A650-0AC6F017A6E2}">
      <dgm:prSet/>
      <dgm:spPr/>
      <dgm:t>
        <a:bodyPr/>
        <a:lstStyle/>
        <a:p>
          <a:endParaRPr lang="en-US"/>
        </a:p>
      </dgm:t>
    </dgm:pt>
    <dgm:pt modelId="{923F808B-657B-4291-A3AE-335A2C8F9C7A}">
      <dgm:prSet/>
      <dgm:spPr/>
      <dgm:t>
        <a:bodyPr/>
        <a:lstStyle/>
        <a:p>
          <a:r>
            <a:rPr lang="da-DK" dirty="0"/>
            <a:t>Key </a:t>
          </a:r>
          <a:r>
            <a:rPr lang="da-DK" dirty="0" err="1"/>
            <a:t>findings</a:t>
          </a:r>
          <a:endParaRPr lang="en-US" dirty="0"/>
        </a:p>
      </dgm:t>
    </dgm:pt>
    <dgm:pt modelId="{EC49E8D6-6A0A-420D-B883-58B2E5B66729}" type="parTrans" cxnId="{026D9C30-A64F-44F1-B093-18CF909D4BB1}">
      <dgm:prSet/>
      <dgm:spPr/>
      <dgm:t>
        <a:bodyPr/>
        <a:lstStyle/>
        <a:p>
          <a:endParaRPr lang="en-US"/>
        </a:p>
      </dgm:t>
    </dgm:pt>
    <dgm:pt modelId="{14E34225-0E70-45A9-A2F7-767AF0A928EA}" type="sibTrans" cxnId="{026D9C30-A64F-44F1-B093-18CF909D4BB1}">
      <dgm:prSet/>
      <dgm:spPr/>
      <dgm:t>
        <a:bodyPr/>
        <a:lstStyle/>
        <a:p>
          <a:endParaRPr lang="en-US"/>
        </a:p>
      </dgm:t>
    </dgm:pt>
    <dgm:pt modelId="{0384CAB9-FBE8-4E4D-B73C-1FAB6BC631BC}">
      <dgm:prSet/>
      <dgm:spPr/>
      <dgm:t>
        <a:bodyPr/>
        <a:lstStyle/>
        <a:p>
          <a:r>
            <a:rPr lang="da-DK" dirty="0"/>
            <a:t>The </a:t>
          </a:r>
          <a:r>
            <a:rPr lang="da-DK" dirty="0" err="1"/>
            <a:t>opportunity</a:t>
          </a:r>
          <a:r>
            <a:rPr lang="da-DK" dirty="0"/>
            <a:t> </a:t>
          </a:r>
          <a:r>
            <a:rPr lang="da-DK" dirty="0" err="1"/>
            <a:t>cost</a:t>
          </a:r>
          <a:r>
            <a:rPr lang="da-DK" dirty="0"/>
            <a:t> of </a:t>
          </a:r>
          <a:r>
            <a:rPr lang="da-DK" dirty="0" err="1"/>
            <a:t>electricity</a:t>
          </a:r>
          <a:r>
            <a:rPr lang="da-DK" dirty="0"/>
            <a:t> sales under long-term </a:t>
          </a:r>
          <a:r>
            <a:rPr lang="da-DK" dirty="0" err="1"/>
            <a:t>offtake</a:t>
          </a:r>
          <a:r>
            <a:rPr lang="da-DK" dirty="0"/>
            <a:t> </a:t>
          </a:r>
          <a:r>
            <a:rPr lang="da-DK" dirty="0" err="1"/>
            <a:t>contracts</a:t>
          </a:r>
          <a:r>
            <a:rPr lang="da-DK" dirty="0"/>
            <a:t> </a:t>
          </a:r>
          <a:r>
            <a:rPr lang="da-DK" dirty="0" err="1"/>
            <a:t>can</a:t>
          </a:r>
          <a:r>
            <a:rPr lang="da-DK" dirty="0"/>
            <a:t> </a:t>
          </a:r>
          <a:r>
            <a:rPr lang="da-DK" dirty="0" err="1"/>
            <a:t>be</a:t>
          </a:r>
          <a:r>
            <a:rPr lang="da-DK" dirty="0"/>
            <a:t> </a:t>
          </a:r>
          <a:r>
            <a:rPr lang="da-DK" dirty="0" err="1"/>
            <a:t>accurately</a:t>
          </a:r>
          <a:r>
            <a:rPr lang="da-DK" dirty="0"/>
            <a:t> </a:t>
          </a:r>
          <a:r>
            <a:rPr lang="da-DK" dirty="0" err="1"/>
            <a:t>estimated</a:t>
          </a:r>
          <a:r>
            <a:rPr lang="da-DK" dirty="0"/>
            <a:t> </a:t>
          </a:r>
          <a:r>
            <a:rPr lang="da-DK" dirty="0" err="1"/>
            <a:t>using</a:t>
          </a:r>
          <a:r>
            <a:rPr lang="da-DK" dirty="0"/>
            <a:t> a </a:t>
          </a:r>
          <a:r>
            <a:rPr lang="da-DK" dirty="0" err="1"/>
            <a:t>production-weighted</a:t>
          </a:r>
          <a:r>
            <a:rPr lang="da-DK" dirty="0"/>
            <a:t> </a:t>
          </a:r>
          <a:r>
            <a:rPr lang="da-DK" dirty="0" err="1"/>
            <a:t>price</a:t>
          </a:r>
          <a:r>
            <a:rPr lang="da-DK" dirty="0"/>
            <a:t> </a:t>
          </a:r>
          <a:r>
            <a:rPr lang="da-DK" dirty="0" err="1"/>
            <a:t>duration</a:t>
          </a:r>
          <a:r>
            <a:rPr lang="da-DK" dirty="0"/>
            <a:t> </a:t>
          </a:r>
          <a:r>
            <a:rPr lang="da-DK" dirty="0" err="1"/>
            <a:t>curve</a:t>
          </a:r>
          <a:r>
            <a:rPr lang="da-DK" dirty="0"/>
            <a:t>.</a:t>
          </a:r>
          <a:endParaRPr lang="en-US" dirty="0"/>
        </a:p>
      </dgm:t>
    </dgm:pt>
    <dgm:pt modelId="{64EE82E9-70DB-44F4-A3E3-C3CEDE555EB9}" type="parTrans" cxnId="{7873E9DA-4D5C-4129-A81A-4D21DD535A57}">
      <dgm:prSet/>
      <dgm:spPr/>
      <dgm:t>
        <a:bodyPr/>
        <a:lstStyle/>
        <a:p>
          <a:endParaRPr lang="en-US"/>
        </a:p>
      </dgm:t>
    </dgm:pt>
    <dgm:pt modelId="{7DC67902-C66B-470E-8232-C4C150D7F3F7}" type="sibTrans" cxnId="{7873E9DA-4D5C-4129-A81A-4D21DD535A57}">
      <dgm:prSet/>
      <dgm:spPr/>
      <dgm:t>
        <a:bodyPr/>
        <a:lstStyle/>
        <a:p>
          <a:endParaRPr lang="en-US"/>
        </a:p>
      </dgm:t>
    </dgm:pt>
    <dgm:pt modelId="{E3AA5C65-F718-4BC9-BC6A-EA5B53176368}">
      <dgm:prSet/>
      <dgm:spPr/>
      <dgm:t>
        <a:bodyPr/>
        <a:lstStyle/>
        <a:p>
          <a:r>
            <a:rPr lang="da-DK" dirty="0"/>
            <a:t>Day-</a:t>
          </a:r>
          <a:r>
            <a:rPr lang="da-DK" dirty="0" err="1"/>
            <a:t>ahead</a:t>
          </a:r>
          <a:r>
            <a:rPr lang="da-DK" dirty="0"/>
            <a:t> </a:t>
          </a:r>
          <a:r>
            <a:rPr lang="da-DK" dirty="0" err="1"/>
            <a:t>market</a:t>
          </a:r>
          <a:r>
            <a:rPr lang="da-DK" dirty="0"/>
            <a:t> participation </a:t>
          </a:r>
          <a:r>
            <a:rPr lang="da-DK" dirty="0" err="1"/>
            <a:t>strategies</a:t>
          </a:r>
          <a:r>
            <a:rPr lang="da-DK" dirty="0"/>
            <a:t> have </a:t>
          </a:r>
          <a:r>
            <a:rPr lang="da-DK" dirty="0" err="1"/>
            <a:t>been</a:t>
          </a:r>
          <a:r>
            <a:rPr lang="da-DK" dirty="0"/>
            <a:t> </a:t>
          </a:r>
          <a:r>
            <a:rPr lang="da-DK" dirty="0" err="1"/>
            <a:t>formulated</a:t>
          </a:r>
          <a:r>
            <a:rPr lang="da-DK" dirty="0"/>
            <a:t> and </a:t>
          </a:r>
          <a:r>
            <a:rPr lang="da-DK" dirty="0" err="1"/>
            <a:t>tested</a:t>
          </a:r>
          <a:r>
            <a:rPr lang="da-DK" dirty="0"/>
            <a:t> – </a:t>
          </a:r>
          <a:r>
            <a:rPr lang="da-DK" dirty="0" err="1"/>
            <a:t>Obtaining</a:t>
          </a:r>
          <a:r>
            <a:rPr lang="da-DK" dirty="0"/>
            <a:t> up to 95.3% of optimal profits </a:t>
          </a:r>
          <a:r>
            <a:rPr lang="da-DK" dirty="0" err="1"/>
            <a:t>across</a:t>
          </a:r>
          <a:r>
            <a:rPr lang="da-DK" dirty="0"/>
            <a:t> a </a:t>
          </a:r>
          <a:r>
            <a:rPr lang="da-DK" dirty="0" err="1"/>
            <a:t>year</a:t>
          </a:r>
          <a:r>
            <a:rPr lang="da-DK" dirty="0"/>
            <a:t> (with no </a:t>
          </a:r>
          <a:r>
            <a:rPr lang="da-DK" dirty="0" err="1"/>
            <a:t>foresight</a:t>
          </a:r>
          <a:r>
            <a:rPr lang="da-DK" dirty="0"/>
            <a:t> </a:t>
          </a:r>
          <a:r>
            <a:rPr lang="da-DK" dirty="0" err="1"/>
            <a:t>capabilities</a:t>
          </a:r>
          <a:r>
            <a:rPr lang="da-DK" dirty="0"/>
            <a:t>).</a:t>
          </a:r>
          <a:endParaRPr lang="en-US" dirty="0"/>
        </a:p>
      </dgm:t>
    </dgm:pt>
    <dgm:pt modelId="{6325E8C6-EB39-4BBF-88EF-11789F162A2F}" type="parTrans" cxnId="{4F000B38-29D4-4C46-9E37-8F8508C023FB}">
      <dgm:prSet/>
      <dgm:spPr/>
      <dgm:t>
        <a:bodyPr/>
        <a:lstStyle/>
        <a:p>
          <a:endParaRPr lang="en-US"/>
        </a:p>
      </dgm:t>
    </dgm:pt>
    <dgm:pt modelId="{38834960-BD52-4E7F-9D94-AFCC385BECA8}" type="sibTrans" cxnId="{4F000B38-29D4-4C46-9E37-8F8508C023FB}">
      <dgm:prSet/>
      <dgm:spPr/>
      <dgm:t>
        <a:bodyPr/>
        <a:lstStyle/>
        <a:p>
          <a:endParaRPr lang="en-US"/>
        </a:p>
      </dgm:t>
    </dgm:pt>
    <dgm:pt modelId="{5551372F-59A7-407C-8543-82C1FC2EC60B}">
      <dgm:prSet/>
      <dgm:spPr/>
      <dgm:t>
        <a:bodyPr/>
        <a:lstStyle/>
        <a:p>
          <a:r>
            <a:rPr lang="en-US"/>
            <a:t>Obtaining a good estimate of a strike price for the fuel production makes the market participation strategy straightforward and robust against poor short-term forecasting capabilities.</a:t>
          </a:r>
        </a:p>
      </dgm:t>
    </dgm:pt>
    <dgm:pt modelId="{56519B23-3BEC-4DA8-82A0-B95DEE64D1F8}" type="parTrans" cxnId="{6A583864-F4B0-4B7A-875D-6867E53D2B2C}">
      <dgm:prSet/>
      <dgm:spPr/>
      <dgm:t>
        <a:bodyPr/>
        <a:lstStyle/>
        <a:p>
          <a:endParaRPr lang="en-US"/>
        </a:p>
      </dgm:t>
    </dgm:pt>
    <dgm:pt modelId="{26A3701D-BB3B-4520-83E1-E74A39FD40EF}" type="sibTrans" cxnId="{6A583864-F4B0-4B7A-875D-6867E53D2B2C}">
      <dgm:prSet/>
      <dgm:spPr/>
      <dgm:t>
        <a:bodyPr/>
        <a:lstStyle/>
        <a:p>
          <a:endParaRPr lang="en-US"/>
        </a:p>
      </dgm:t>
    </dgm:pt>
    <dgm:pt modelId="{2A1BA6AE-587E-4236-9B75-F6AE92E53FA0}">
      <dgm:prSet/>
      <dgm:spPr/>
      <dgm:t>
        <a:bodyPr/>
        <a:lstStyle/>
        <a:p>
          <a:r>
            <a:rPr lang="da-DK"/>
            <a:t>Methods</a:t>
          </a:r>
          <a:endParaRPr lang="en-US" dirty="0"/>
        </a:p>
      </dgm:t>
    </dgm:pt>
    <dgm:pt modelId="{62F04A98-032C-416F-8C7F-4A2D45C000C9}" type="parTrans" cxnId="{B40552B4-DA06-48C5-907D-D8C3AFBA1495}">
      <dgm:prSet/>
      <dgm:spPr/>
      <dgm:t>
        <a:bodyPr/>
        <a:lstStyle/>
        <a:p>
          <a:endParaRPr lang="en-US"/>
        </a:p>
      </dgm:t>
    </dgm:pt>
    <dgm:pt modelId="{7852079E-DFE8-4B4B-B6C6-A05BEA218B41}" type="sibTrans" cxnId="{B40552B4-DA06-48C5-907D-D8C3AFBA1495}">
      <dgm:prSet/>
      <dgm:spPr/>
      <dgm:t>
        <a:bodyPr/>
        <a:lstStyle/>
        <a:p>
          <a:endParaRPr lang="en-US"/>
        </a:p>
      </dgm:t>
    </dgm:pt>
    <dgm:pt modelId="{31AA09D6-2CFC-4F53-98AE-8D8F0E65C3C3}">
      <dgm:prSet/>
      <dgm:spPr/>
      <dgm:t>
        <a:bodyPr/>
        <a:lstStyle/>
        <a:p>
          <a:r>
            <a:rPr lang="da-DK"/>
            <a:t>Rolling horizon optimization</a:t>
          </a:r>
          <a:endParaRPr lang="en-US" dirty="0"/>
        </a:p>
      </dgm:t>
    </dgm:pt>
    <dgm:pt modelId="{8AFD9048-DA99-436E-B0A7-D69930175FC5}" type="parTrans" cxnId="{3E69C9AF-943C-4445-A679-54C5225D0A6A}">
      <dgm:prSet/>
      <dgm:spPr/>
      <dgm:t>
        <a:bodyPr/>
        <a:lstStyle/>
        <a:p>
          <a:endParaRPr lang="en-US"/>
        </a:p>
      </dgm:t>
    </dgm:pt>
    <dgm:pt modelId="{AA712927-068F-4435-AFB6-6D2D33BA779D}" type="sibTrans" cxnId="{3E69C9AF-943C-4445-A679-54C5225D0A6A}">
      <dgm:prSet/>
      <dgm:spPr/>
      <dgm:t>
        <a:bodyPr/>
        <a:lstStyle/>
        <a:p>
          <a:endParaRPr lang="en-US"/>
        </a:p>
      </dgm:t>
    </dgm:pt>
    <dgm:pt modelId="{8A7DB823-9D0F-454E-BB79-D3E6FA86DC97}">
      <dgm:prSet/>
      <dgm:spPr/>
      <dgm:t>
        <a:bodyPr/>
        <a:lstStyle/>
        <a:p>
          <a:r>
            <a:rPr lang="da-DK" dirty="0"/>
            <a:t>Price </a:t>
          </a:r>
          <a:r>
            <a:rPr lang="da-DK" dirty="0" err="1"/>
            <a:t>duration</a:t>
          </a:r>
          <a:r>
            <a:rPr lang="da-DK" dirty="0"/>
            <a:t> </a:t>
          </a:r>
          <a:r>
            <a:rPr lang="da-DK" dirty="0" err="1"/>
            <a:t>curves</a:t>
          </a:r>
          <a:r>
            <a:rPr lang="da-DK" dirty="0"/>
            <a:t> </a:t>
          </a:r>
          <a:r>
            <a:rPr lang="da-DK" dirty="0" err="1"/>
            <a:t>used</a:t>
          </a:r>
          <a:r>
            <a:rPr lang="da-DK" dirty="0"/>
            <a:t> to </a:t>
          </a:r>
          <a:r>
            <a:rPr lang="da-DK" dirty="0" err="1"/>
            <a:t>identify</a:t>
          </a:r>
          <a:r>
            <a:rPr lang="da-DK" dirty="0"/>
            <a:t> </a:t>
          </a:r>
          <a:r>
            <a:rPr lang="da-DK" dirty="0" err="1"/>
            <a:t>ópportunity</a:t>
          </a:r>
          <a:r>
            <a:rPr lang="da-DK" dirty="0"/>
            <a:t> </a:t>
          </a:r>
          <a:r>
            <a:rPr lang="da-DK" dirty="0" err="1"/>
            <a:t>costs</a:t>
          </a:r>
          <a:r>
            <a:rPr lang="da-DK" dirty="0"/>
            <a:t>.</a:t>
          </a:r>
          <a:endParaRPr lang="en-US" dirty="0"/>
        </a:p>
      </dgm:t>
    </dgm:pt>
    <dgm:pt modelId="{5CF1A14F-81E7-49B4-BFD4-1E09D06A3F9A}" type="parTrans" cxnId="{8F12DFFF-5285-4153-8956-03BB57F4598A}">
      <dgm:prSet/>
      <dgm:spPr/>
      <dgm:t>
        <a:bodyPr/>
        <a:lstStyle/>
        <a:p>
          <a:endParaRPr lang="en-US"/>
        </a:p>
      </dgm:t>
    </dgm:pt>
    <dgm:pt modelId="{48979AC2-5D0E-4355-BF04-F6A39B4D42A5}" type="sibTrans" cxnId="{8F12DFFF-5285-4153-8956-03BB57F4598A}">
      <dgm:prSet/>
      <dgm:spPr/>
      <dgm:t>
        <a:bodyPr/>
        <a:lstStyle/>
        <a:p>
          <a:endParaRPr lang="en-US"/>
        </a:p>
      </dgm:t>
    </dgm:pt>
    <dgm:pt modelId="{B7B56EC7-A1F3-4E1B-8236-BD93EA5D560E}">
      <dgm:prSet/>
      <dgm:spPr/>
      <dgm:t>
        <a:bodyPr/>
        <a:lstStyle/>
        <a:p>
          <a:r>
            <a:rPr lang="da-DK" dirty="0" err="1"/>
            <a:t>Bidding</a:t>
          </a:r>
          <a:r>
            <a:rPr lang="da-DK" dirty="0"/>
            <a:t> </a:t>
          </a:r>
          <a:r>
            <a:rPr lang="da-DK" dirty="0" err="1"/>
            <a:t>strategies</a:t>
          </a:r>
          <a:r>
            <a:rPr lang="da-DK" dirty="0"/>
            <a:t>: </a:t>
          </a:r>
          <a:r>
            <a:rPr lang="da-DK" dirty="0" err="1"/>
            <a:t>Linear</a:t>
          </a:r>
          <a:r>
            <a:rPr lang="da-DK" dirty="0"/>
            <a:t> decision </a:t>
          </a:r>
          <a:r>
            <a:rPr lang="da-DK" dirty="0" err="1"/>
            <a:t>rules</a:t>
          </a:r>
          <a:r>
            <a:rPr lang="da-DK" dirty="0"/>
            <a:t>, </a:t>
          </a:r>
          <a:r>
            <a:rPr lang="da-DK" dirty="0" err="1"/>
            <a:t>stochastic</a:t>
          </a:r>
          <a:r>
            <a:rPr lang="da-DK" dirty="0"/>
            <a:t> LP-</a:t>
          </a:r>
          <a:r>
            <a:rPr lang="da-DK" dirty="0" err="1"/>
            <a:t>integrated</a:t>
          </a:r>
          <a:r>
            <a:rPr lang="da-DK" dirty="0"/>
            <a:t> </a:t>
          </a:r>
          <a:r>
            <a:rPr lang="da-DK" dirty="0" err="1"/>
            <a:t>bidding</a:t>
          </a:r>
          <a:r>
            <a:rPr lang="da-DK" dirty="0"/>
            <a:t> </a:t>
          </a:r>
          <a:r>
            <a:rPr lang="da-DK" dirty="0" err="1"/>
            <a:t>curve</a:t>
          </a:r>
          <a:r>
            <a:rPr lang="da-DK" dirty="0"/>
            <a:t> </a:t>
          </a:r>
          <a:r>
            <a:rPr lang="da-DK" dirty="0" err="1"/>
            <a:t>identification</a:t>
          </a:r>
          <a:r>
            <a:rPr lang="da-DK" dirty="0"/>
            <a:t>.</a:t>
          </a:r>
          <a:endParaRPr lang="en-US" dirty="0"/>
        </a:p>
      </dgm:t>
    </dgm:pt>
    <dgm:pt modelId="{09239BA8-8E2C-4B29-8894-C9E5B4DA560A}" type="parTrans" cxnId="{495A1C5C-7327-4E10-84C1-939035FD984E}">
      <dgm:prSet/>
      <dgm:spPr/>
      <dgm:t>
        <a:bodyPr/>
        <a:lstStyle/>
        <a:p>
          <a:endParaRPr lang="en-US"/>
        </a:p>
      </dgm:t>
    </dgm:pt>
    <dgm:pt modelId="{C5B04A74-094A-4C06-8CBA-3D4972ED26DB}" type="sibTrans" cxnId="{495A1C5C-7327-4E10-84C1-939035FD984E}">
      <dgm:prSet/>
      <dgm:spPr/>
      <dgm:t>
        <a:bodyPr/>
        <a:lstStyle/>
        <a:p>
          <a:endParaRPr lang="en-US"/>
        </a:p>
      </dgm:t>
    </dgm:pt>
    <dgm:pt modelId="{7AE490E5-5126-4970-8B99-3D54DE280BF2}" type="pres">
      <dgm:prSet presAssocID="{26FFAFC4-AE78-4D0E-BE6A-126ECC091B34}" presName="linear" presStyleCnt="0">
        <dgm:presLayoutVars>
          <dgm:animLvl val="lvl"/>
          <dgm:resizeHandles val="exact"/>
        </dgm:presLayoutVars>
      </dgm:prSet>
      <dgm:spPr/>
    </dgm:pt>
    <dgm:pt modelId="{6C08A69B-10CB-43DC-9C49-32DDF8BA2E60}" type="pres">
      <dgm:prSet presAssocID="{99884D65-CEB7-48C4-A89A-5BD2A8C17FC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7FA084-8889-40BD-BAA5-8ADE0A3B264D}" type="pres">
      <dgm:prSet presAssocID="{99884D65-CEB7-48C4-A89A-5BD2A8C17FC1}" presName="childText" presStyleLbl="revTx" presStyleIdx="0" presStyleCnt="3">
        <dgm:presLayoutVars>
          <dgm:bulletEnabled val="1"/>
        </dgm:presLayoutVars>
      </dgm:prSet>
      <dgm:spPr/>
    </dgm:pt>
    <dgm:pt modelId="{EA0BB653-4FEF-41D7-81DE-9487CAA64244}" type="pres">
      <dgm:prSet presAssocID="{2A1BA6AE-587E-4236-9B75-F6AE92E53F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30B09A-2467-4955-9C1C-0527A9870474}" type="pres">
      <dgm:prSet presAssocID="{2A1BA6AE-587E-4236-9B75-F6AE92E53FA0}" presName="childText" presStyleLbl="revTx" presStyleIdx="1" presStyleCnt="3">
        <dgm:presLayoutVars>
          <dgm:bulletEnabled val="1"/>
        </dgm:presLayoutVars>
      </dgm:prSet>
      <dgm:spPr/>
    </dgm:pt>
    <dgm:pt modelId="{58EE0425-DB96-465B-9EFB-5089006B2B2C}" type="pres">
      <dgm:prSet presAssocID="{923F808B-657B-4291-A3AE-335A2C8F9C7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D7E1111-6135-454C-B84E-916D3BC2BD50}" type="pres">
      <dgm:prSet presAssocID="{923F808B-657B-4291-A3AE-335A2C8F9C7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4DAF313-9C68-4F10-B94A-46421ECE2B09}" type="presOf" srcId="{E3AA5C65-F718-4BC9-BC6A-EA5B53176368}" destId="{ED7E1111-6135-454C-B84E-916D3BC2BD50}" srcOrd="0" destOrd="1" presId="urn:microsoft.com/office/officeart/2005/8/layout/vList2"/>
    <dgm:cxn modelId="{BDB79517-8CF5-46C1-BEB0-B9C8844BC69F}" type="presOf" srcId="{2A1BA6AE-587E-4236-9B75-F6AE92E53FA0}" destId="{EA0BB653-4FEF-41D7-81DE-9487CAA64244}" srcOrd="0" destOrd="0" presId="urn:microsoft.com/office/officeart/2005/8/layout/vList2"/>
    <dgm:cxn modelId="{A539E91A-6778-4A4C-AB4E-BE2201ECCB7A}" type="presOf" srcId="{923F808B-657B-4291-A3AE-335A2C8F9C7A}" destId="{58EE0425-DB96-465B-9EFB-5089006B2B2C}" srcOrd="0" destOrd="0" presId="urn:microsoft.com/office/officeart/2005/8/layout/vList2"/>
    <dgm:cxn modelId="{B3A3EE1B-92B8-4D62-9CFB-CAF398BD0F8F}" type="presOf" srcId="{99884D65-CEB7-48C4-A89A-5BD2A8C17FC1}" destId="{6C08A69B-10CB-43DC-9C49-32DDF8BA2E60}" srcOrd="0" destOrd="0" presId="urn:microsoft.com/office/officeart/2005/8/layout/vList2"/>
    <dgm:cxn modelId="{022EC627-6D2F-4597-8736-EC9E79CAA986}" type="presOf" srcId="{5551372F-59A7-407C-8543-82C1FC2EC60B}" destId="{ED7E1111-6135-454C-B84E-916D3BC2BD50}" srcOrd="0" destOrd="2" presId="urn:microsoft.com/office/officeart/2005/8/layout/vList2"/>
    <dgm:cxn modelId="{137DB12C-50FB-4948-AB20-60387F4A9046}" type="presOf" srcId="{8A7DB823-9D0F-454E-BB79-D3E6FA86DC97}" destId="{C930B09A-2467-4955-9C1C-0527A9870474}" srcOrd="0" destOrd="1" presId="urn:microsoft.com/office/officeart/2005/8/layout/vList2"/>
    <dgm:cxn modelId="{026D9C30-A64F-44F1-B093-18CF909D4BB1}" srcId="{26FFAFC4-AE78-4D0E-BE6A-126ECC091B34}" destId="{923F808B-657B-4291-A3AE-335A2C8F9C7A}" srcOrd="2" destOrd="0" parTransId="{EC49E8D6-6A0A-420D-B883-58B2E5B66729}" sibTransId="{14E34225-0E70-45A9-A2F7-767AF0A928EA}"/>
    <dgm:cxn modelId="{4F000B38-29D4-4C46-9E37-8F8508C023FB}" srcId="{923F808B-657B-4291-A3AE-335A2C8F9C7A}" destId="{E3AA5C65-F718-4BC9-BC6A-EA5B53176368}" srcOrd="1" destOrd="0" parTransId="{6325E8C6-EB39-4BBF-88EF-11789F162A2F}" sibTransId="{38834960-BD52-4E7F-9D94-AFCC385BECA8}"/>
    <dgm:cxn modelId="{495A1C5C-7327-4E10-84C1-939035FD984E}" srcId="{2A1BA6AE-587E-4236-9B75-F6AE92E53FA0}" destId="{B7B56EC7-A1F3-4E1B-8236-BD93EA5D560E}" srcOrd="2" destOrd="0" parTransId="{09239BA8-8E2C-4B29-8894-C9E5B4DA560A}" sibTransId="{C5B04A74-094A-4C06-8CBA-3D4972ED26DB}"/>
    <dgm:cxn modelId="{6A583864-F4B0-4B7A-875D-6867E53D2B2C}" srcId="{923F808B-657B-4291-A3AE-335A2C8F9C7A}" destId="{5551372F-59A7-407C-8543-82C1FC2EC60B}" srcOrd="2" destOrd="0" parTransId="{56519B23-3BEC-4DA8-82A0-B95DEE64D1F8}" sibTransId="{26A3701D-BB3B-4520-83E1-E74A39FD40EF}"/>
    <dgm:cxn modelId="{C922754E-1996-45C3-A650-0AC6F017A6E2}" srcId="{99884D65-CEB7-48C4-A89A-5BD2A8C17FC1}" destId="{286A135D-8DA6-48E2-B1F6-3CB4C87E6056}" srcOrd="0" destOrd="0" parTransId="{A10F93D5-522E-4AC4-AA5D-530940E3FB40}" sibTransId="{66669D72-E166-4507-8E44-FBA3A3BE4F22}"/>
    <dgm:cxn modelId="{8D243154-D635-42A0-8E72-CE00F605BA1C}" type="presOf" srcId="{B7B56EC7-A1F3-4E1B-8236-BD93EA5D560E}" destId="{C930B09A-2467-4955-9C1C-0527A9870474}" srcOrd="0" destOrd="2" presId="urn:microsoft.com/office/officeart/2005/8/layout/vList2"/>
    <dgm:cxn modelId="{4DAA9B9D-CBE3-4658-AA83-384197AA9B92}" srcId="{26FFAFC4-AE78-4D0E-BE6A-126ECC091B34}" destId="{99884D65-CEB7-48C4-A89A-5BD2A8C17FC1}" srcOrd="0" destOrd="0" parTransId="{2F4DC1C8-70FC-42C3-8584-4BF493FBBBD7}" sibTransId="{4429CE7F-CE51-4831-A736-A5F619ECDC34}"/>
    <dgm:cxn modelId="{A03BB3A2-7E59-44D3-AF1A-C20F5748F955}" type="presOf" srcId="{31AA09D6-2CFC-4F53-98AE-8D8F0E65C3C3}" destId="{C930B09A-2467-4955-9C1C-0527A9870474}" srcOrd="0" destOrd="0" presId="urn:microsoft.com/office/officeart/2005/8/layout/vList2"/>
    <dgm:cxn modelId="{3E69C9AF-943C-4445-A679-54C5225D0A6A}" srcId="{2A1BA6AE-587E-4236-9B75-F6AE92E53FA0}" destId="{31AA09D6-2CFC-4F53-98AE-8D8F0E65C3C3}" srcOrd="0" destOrd="0" parTransId="{8AFD9048-DA99-436E-B0A7-D69930175FC5}" sibTransId="{AA712927-068F-4435-AFB6-6D2D33BA779D}"/>
    <dgm:cxn modelId="{B40552B4-DA06-48C5-907D-D8C3AFBA1495}" srcId="{26FFAFC4-AE78-4D0E-BE6A-126ECC091B34}" destId="{2A1BA6AE-587E-4236-9B75-F6AE92E53FA0}" srcOrd="1" destOrd="0" parTransId="{62F04A98-032C-416F-8C7F-4A2D45C000C9}" sibTransId="{7852079E-DFE8-4B4B-B6C6-A05BEA218B41}"/>
    <dgm:cxn modelId="{F8F12FBC-0ECD-4632-BB30-5EB0727AA461}" type="presOf" srcId="{26FFAFC4-AE78-4D0E-BE6A-126ECC091B34}" destId="{7AE490E5-5126-4970-8B99-3D54DE280BF2}" srcOrd="0" destOrd="0" presId="urn:microsoft.com/office/officeart/2005/8/layout/vList2"/>
    <dgm:cxn modelId="{164DD0C1-DFA3-42A6-9062-FE799C79BD38}" type="presOf" srcId="{0384CAB9-FBE8-4E4D-B73C-1FAB6BC631BC}" destId="{ED7E1111-6135-454C-B84E-916D3BC2BD50}" srcOrd="0" destOrd="0" presId="urn:microsoft.com/office/officeart/2005/8/layout/vList2"/>
    <dgm:cxn modelId="{9D8018CE-2D71-4C68-9BEF-1CC41C291F4D}" type="presOf" srcId="{286A135D-8DA6-48E2-B1F6-3CB4C87E6056}" destId="{5E7FA084-8889-40BD-BAA5-8ADE0A3B264D}" srcOrd="0" destOrd="0" presId="urn:microsoft.com/office/officeart/2005/8/layout/vList2"/>
    <dgm:cxn modelId="{7873E9DA-4D5C-4129-A81A-4D21DD535A57}" srcId="{923F808B-657B-4291-A3AE-335A2C8F9C7A}" destId="{0384CAB9-FBE8-4E4D-B73C-1FAB6BC631BC}" srcOrd="0" destOrd="0" parTransId="{64EE82E9-70DB-44F4-A3E3-C3CEDE555EB9}" sibTransId="{7DC67902-C66B-470E-8232-C4C150D7F3F7}"/>
    <dgm:cxn modelId="{8F12DFFF-5285-4153-8956-03BB57F4598A}" srcId="{2A1BA6AE-587E-4236-9B75-F6AE92E53FA0}" destId="{8A7DB823-9D0F-454E-BB79-D3E6FA86DC97}" srcOrd="1" destOrd="0" parTransId="{5CF1A14F-81E7-49B4-BFD4-1E09D06A3F9A}" sibTransId="{48979AC2-5D0E-4355-BF04-F6A39B4D42A5}"/>
    <dgm:cxn modelId="{6B7DCAB5-BB21-4DF6-A1AF-982D2D5E63EB}" type="presParOf" srcId="{7AE490E5-5126-4970-8B99-3D54DE280BF2}" destId="{6C08A69B-10CB-43DC-9C49-32DDF8BA2E60}" srcOrd="0" destOrd="0" presId="urn:microsoft.com/office/officeart/2005/8/layout/vList2"/>
    <dgm:cxn modelId="{5B6987BA-1446-4066-8E80-30A5888B53B3}" type="presParOf" srcId="{7AE490E5-5126-4970-8B99-3D54DE280BF2}" destId="{5E7FA084-8889-40BD-BAA5-8ADE0A3B264D}" srcOrd="1" destOrd="0" presId="urn:microsoft.com/office/officeart/2005/8/layout/vList2"/>
    <dgm:cxn modelId="{20EF7358-2F51-438C-92AE-DA490DD218C3}" type="presParOf" srcId="{7AE490E5-5126-4970-8B99-3D54DE280BF2}" destId="{EA0BB653-4FEF-41D7-81DE-9487CAA64244}" srcOrd="2" destOrd="0" presId="urn:microsoft.com/office/officeart/2005/8/layout/vList2"/>
    <dgm:cxn modelId="{AE6AE82B-9079-4074-86E0-732671608747}" type="presParOf" srcId="{7AE490E5-5126-4970-8B99-3D54DE280BF2}" destId="{C930B09A-2467-4955-9C1C-0527A9870474}" srcOrd="3" destOrd="0" presId="urn:microsoft.com/office/officeart/2005/8/layout/vList2"/>
    <dgm:cxn modelId="{C9F44391-61C6-45CB-8254-834AA2462C9F}" type="presParOf" srcId="{7AE490E5-5126-4970-8B99-3D54DE280BF2}" destId="{58EE0425-DB96-465B-9EFB-5089006B2B2C}" srcOrd="4" destOrd="0" presId="urn:microsoft.com/office/officeart/2005/8/layout/vList2"/>
    <dgm:cxn modelId="{EB22FD18-25C1-4B1D-A407-D5CC80362DDF}" type="presParOf" srcId="{7AE490E5-5126-4970-8B99-3D54DE280BF2}" destId="{ED7E1111-6135-454C-B84E-916D3BC2BD5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8A69B-10CB-43DC-9C49-32DDF8BA2E60}">
      <dsp:nvSpPr>
        <dsp:cNvPr id="0" name=""/>
        <dsp:cNvSpPr/>
      </dsp:nvSpPr>
      <dsp:spPr>
        <a:xfrm>
          <a:off x="0" y="5094"/>
          <a:ext cx="1051560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/>
            <a:t>Main RQ</a:t>
          </a:r>
          <a:endParaRPr lang="en-US" sz="2000" kern="1200"/>
        </a:p>
      </dsp:txBody>
      <dsp:txXfrm>
        <a:off x="23988" y="29082"/>
        <a:ext cx="10467624" cy="443424"/>
      </dsp:txXfrm>
    </dsp:sp>
    <dsp:sp modelId="{5E7FA084-8889-40BD-BAA5-8ADE0A3B264D}">
      <dsp:nvSpPr>
        <dsp:cNvPr id="0" name=""/>
        <dsp:cNvSpPr/>
      </dsp:nvSpPr>
      <dsp:spPr>
        <a:xfrm>
          <a:off x="0" y="496494"/>
          <a:ext cx="10515600" cy="50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How can long-term contractual offtake commitments be effectively integrated into the daily operational planning of a renewable fuel plant?</a:t>
          </a:r>
        </a:p>
      </dsp:txBody>
      <dsp:txXfrm>
        <a:off x="0" y="496494"/>
        <a:ext cx="10515600" cy="507150"/>
      </dsp:txXfrm>
    </dsp:sp>
    <dsp:sp modelId="{EA0BB653-4FEF-41D7-81DE-9487CAA64244}">
      <dsp:nvSpPr>
        <dsp:cNvPr id="0" name=""/>
        <dsp:cNvSpPr/>
      </dsp:nvSpPr>
      <dsp:spPr>
        <a:xfrm>
          <a:off x="0" y="1003644"/>
          <a:ext cx="1051560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/>
            <a:t>Methods</a:t>
          </a:r>
          <a:endParaRPr lang="en-US" sz="2000" kern="1200" dirty="0"/>
        </a:p>
      </dsp:txBody>
      <dsp:txXfrm>
        <a:off x="23988" y="1027632"/>
        <a:ext cx="10467624" cy="443424"/>
      </dsp:txXfrm>
    </dsp:sp>
    <dsp:sp modelId="{C930B09A-2467-4955-9C1C-0527A9870474}">
      <dsp:nvSpPr>
        <dsp:cNvPr id="0" name=""/>
        <dsp:cNvSpPr/>
      </dsp:nvSpPr>
      <dsp:spPr>
        <a:xfrm>
          <a:off x="0" y="1495044"/>
          <a:ext cx="10515600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/>
            <a:t>Rolling horizon optimization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Price </a:t>
          </a:r>
          <a:r>
            <a:rPr lang="da-DK" sz="1600" kern="1200" dirty="0" err="1"/>
            <a:t>duration</a:t>
          </a:r>
          <a:r>
            <a:rPr lang="da-DK" sz="1600" kern="1200" dirty="0"/>
            <a:t> </a:t>
          </a:r>
          <a:r>
            <a:rPr lang="da-DK" sz="1600" kern="1200" dirty="0" err="1"/>
            <a:t>curves</a:t>
          </a:r>
          <a:r>
            <a:rPr lang="da-DK" sz="1600" kern="1200" dirty="0"/>
            <a:t> </a:t>
          </a:r>
          <a:r>
            <a:rPr lang="da-DK" sz="1600" kern="1200" dirty="0" err="1"/>
            <a:t>used</a:t>
          </a:r>
          <a:r>
            <a:rPr lang="da-DK" sz="1600" kern="1200" dirty="0"/>
            <a:t> to </a:t>
          </a:r>
          <a:r>
            <a:rPr lang="da-DK" sz="1600" kern="1200" dirty="0" err="1"/>
            <a:t>identify</a:t>
          </a:r>
          <a:r>
            <a:rPr lang="da-DK" sz="1600" kern="1200" dirty="0"/>
            <a:t> </a:t>
          </a:r>
          <a:r>
            <a:rPr lang="da-DK" sz="1600" kern="1200" dirty="0" err="1"/>
            <a:t>ópportunity</a:t>
          </a:r>
          <a:r>
            <a:rPr lang="da-DK" sz="1600" kern="1200" dirty="0"/>
            <a:t> </a:t>
          </a:r>
          <a:r>
            <a:rPr lang="da-DK" sz="1600" kern="1200" dirty="0" err="1"/>
            <a:t>costs</a:t>
          </a:r>
          <a:r>
            <a:rPr lang="da-DK" sz="1600" kern="1200" dirty="0"/>
            <a:t>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 err="1"/>
            <a:t>Bidding</a:t>
          </a:r>
          <a:r>
            <a:rPr lang="da-DK" sz="1600" kern="1200" dirty="0"/>
            <a:t> </a:t>
          </a:r>
          <a:r>
            <a:rPr lang="da-DK" sz="1600" kern="1200" dirty="0" err="1"/>
            <a:t>strategies</a:t>
          </a:r>
          <a:r>
            <a:rPr lang="da-DK" sz="1600" kern="1200" dirty="0"/>
            <a:t>: </a:t>
          </a:r>
          <a:r>
            <a:rPr lang="da-DK" sz="1600" kern="1200" dirty="0" err="1"/>
            <a:t>Linear</a:t>
          </a:r>
          <a:r>
            <a:rPr lang="da-DK" sz="1600" kern="1200" dirty="0"/>
            <a:t> decision </a:t>
          </a:r>
          <a:r>
            <a:rPr lang="da-DK" sz="1600" kern="1200" dirty="0" err="1"/>
            <a:t>rules</a:t>
          </a:r>
          <a:r>
            <a:rPr lang="da-DK" sz="1600" kern="1200" dirty="0"/>
            <a:t>, </a:t>
          </a:r>
          <a:r>
            <a:rPr lang="da-DK" sz="1600" kern="1200" dirty="0" err="1"/>
            <a:t>stochastic</a:t>
          </a:r>
          <a:r>
            <a:rPr lang="da-DK" sz="1600" kern="1200" dirty="0"/>
            <a:t> LP-</a:t>
          </a:r>
          <a:r>
            <a:rPr lang="da-DK" sz="1600" kern="1200" dirty="0" err="1"/>
            <a:t>integrated</a:t>
          </a:r>
          <a:r>
            <a:rPr lang="da-DK" sz="1600" kern="1200" dirty="0"/>
            <a:t> </a:t>
          </a:r>
          <a:r>
            <a:rPr lang="da-DK" sz="1600" kern="1200" dirty="0" err="1"/>
            <a:t>bidding</a:t>
          </a:r>
          <a:r>
            <a:rPr lang="da-DK" sz="1600" kern="1200" dirty="0"/>
            <a:t> </a:t>
          </a:r>
          <a:r>
            <a:rPr lang="da-DK" sz="1600" kern="1200" dirty="0" err="1"/>
            <a:t>curve</a:t>
          </a:r>
          <a:r>
            <a:rPr lang="da-DK" sz="1600" kern="1200" dirty="0"/>
            <a:t> </a:t>
          </a:r>
          <a:r>
            <a:rPr lang="da-DK" sz="1600" kern="1200" dirty="0" err="1"/>
            <a:t>identification</a:t>
          </a:r>
          <a:r>
            <a:rPr lang="da-DK" sz="1600" kern="1200" dirty="0"/>
            <a:t>.</a:t>
          </a:r>
          <a:endParaRPr lang="en-US" sz="1600" kern="1200" dirty="0"/>
        </a:p>
      </dsp:txBody>
      <dsp:txXfrm>
        <a:off x="0" y="1495044"/>
        <a:ext cx="10515600" cy="828000"/>
      </dsp:txXfrm>
    </dsp:sp>
    <dsp:sp modelId="{58EE0425-DB96-465B-9EFB-5089006B2B2C}">
      <dsp:nvSpPr>
        <dsp:cNvPr id="0" name=""/>
        <dsp:cNvSpPr/>
      </dsp:nvSpPr>
      <dsp:spPr>
        <a:xfrm>
          <a:off x="0" y="2323044"/>
          <a:ext cx="10515600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/>
            <a:t>Key </a:t>
          </a:r>
          <a:r>
            <a:rPr lang="da-DK" sz="2000" kern="1200" dirty="0" err="1"/>
            <a:t>findings</a:t>
          </a:r>
          <a:endParaRPr lang="en-US" sz="2000" kern="1200" dirty="0"/>
        </a:p>
      </dsp:txBody>
      <dsp:txXfrm>
        <a:off x="23988" y="2347032"/>
        <a:ext cx="10467624" cy="443424"/>
      </dsp:txXfrm>
    </dsp:sp>
    <dsp:sp modelId="{ED7E1111-6135-454C-B84E-916D3BC2BD50}">
      <dsp:nvSpPr>
        <dsp:cNvPr id="0" name=""/>
        <dsp:cNvSpPr/>
      </dsp:nvSpPr>
      <dsp:spPr>
        <a:xfrm>
          <a:off x="0" y="2814444"/>
          <a:ext cx="10515600" cy="1531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The </a:t>
          </a:r>
          <a:r>
            <a:rPr lang="da-DK" sz="1600" kern="1200" dirty="0" err="1"/>
            <a:t>opportunity</a:t>
          </a:r>
          <a:r>
            <a:rPr lang="da-DK" sz="1600" kern="1200" dirty="0"/>
            <a:t> </a:t>
          </a:r>
          <a:r>
            <a:rPr lang="da-DK" sz="1600" kern="1200" dirty="0" err="1"/>
            <a:t>cost</a:t>
          </a:r>
          <a:r>
            <a:rPr lang="da-DK" sz="1600" kern="1200" dirty="0"/>
            <a:t> of </a:t>
          </a:r>
          <a:r>
            <a:rPr lang="da-DK" sz="1600" kern="1200" dirty="0" err="1"/>
            <a:t>electricity</a:t>
          </a:r>
          <a:r>
            <a:rPr lang="da-DK" sz="1600" kern="1200" dirty="0"/>
            <a:t> sales under long-term </a:t>
          </a:r>
          <a:r>
            <a:rPr lang="da-DK" sz="1600" kern="1200" dirty="0" err="1"/>
            <a:t>offtake</a:t>
          </a:r>
          <a:r>
            <a:rPr lang="da-DK" sz="1600" kern="1200" dirty="0"/>
            <a:t> </a:t>
          </a:r>
          <a:r>
            <a:rPr lang="da-DK" sz="1600" kern="1200" dirty="0" err="1"/>
            <a:t>contracts</a:t>
          </a:r>
          <a:r>
            <a:rPr lang="da-DK" sz="1600" kern="1200" dirty="0"/>
            <a:t> </a:t>
          </a:r>
          <a:r>
            <a:rPr lang="da-DK" sz="1600" kern="1200" dirty="0" err="1"/>
            <a:t>can</a:t>
          </a:r>
          <a:r>
            <a:rPr lang="da-DK" sz="1600" kern="1200" dirty="0"/>
            <a:t> </a:t>
          </a:r>
          <a:r>
            <a:rPr lang="da-DK" sz="1600" kern="1200" dirty="0" err="1"/>
            <a:t>be</a:t>
          </a:r>
          <a:r>
            <a:rPr lang="da-DK" sz="1600" kern="1200" dirty="0"/>
            <a:t> </a:t>
          </a:r>
          <a:r>
            <a:rPr lang="da-DK" sz="1600" kern="1200" dirty="0" err="1"/>
            <a:t>accurately</a:t>
          </a:r>
          <a:r>
            <a:rPr lang="da-DK" sz="1600" kern="1200" dirty="0"/>
            <a:t> </a:t>
          </a:r>
          <a:r>
            <a:rPr lang="da-DK" sz="1600" kern="1200" dirty="0" err="1"/>
            <a:t>estimated</a:t>
          </a:r>
          <a:r>
            <a:rPr lang="da-DK" sz="1600" kern="1200" dirty="0"/>
            <a:t> </a:t>
          </a:r>
          <a:r>
            <a:rPr lang="da-DK" sz="1600" kern="1200" dirty="0" err="1"/>
            <a:t>using</a:t>
          </a:r>
          <a:r>
            <a:rPr lang="da-DK" sz="1600" kern="1200" dirty="0"/>
            <a:t> a </a:t>
          </a:r>
          <a:r>
            <a:rPr lang="da-DK" sz="1600" kern="1200" dirty="0" err="1"/>
            <a:t>production-weighted</a:t>
          </a:r>
          <a:r>
            <a:rPr lang="da-DK" sz="1600" kern="1200" dirty="0"/>
            <a:t> </a:t>
          </a:r>
          <a:r>
            <a:rPr lang="da-DK" sz="1600" kern="1200" dirty="0" err="1"/>
            <a:t>price</a:t>
          </a:r>
          <a:r>
            <a:rPr lang="da-DK" sz="1600" kern="1200" dirty="0"/>
            <a:t> </a:t>
          </a:r>
          <a:r>
            <a:rPr lang="da-DK" sz="1600" kern="1200" dirty="0" err="1"/>
            <a:t>duration</a:t>
          </a:r>
          <a:r>
            <a:rPr lang="da-DK" sz="1600" kern="1200" dirty="0"/>
            <a:t> </a:t>
          </a:r>
          <a:r>
            <a:rPr lang="da-DK" sz="1600" kern="1200" dirty="0" err="1"/>
            <a:t>curve</a:t>
          </a:r>
          <a:r>
            <a:rPr lang="da-DK" sz="1600" kern="1200" dirty="0"/>
            <a:t>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Day-</a:t>
          </a:r>
          <a:r>
            <a:rPr lang="da-DK" sz="1600" kern="1200" dirty="0" err="1"/>
            <a:t>ahead</a:t>
          </a:r>
          <a:r>
            <a:rPr lang="da-DK" sz="1600" kern="1200" dirty="0"/>
            <a:t> </a:t>
          </a:r>
          <a:r>
            <a:rPr lang="da-DK" sz="1600" kern="1200" dirty="0" err="1"/>
            <a:t>market</a:t>
          </a:r>
          <a:r>
            <a:rPr lang="da-DK" sz="1600" kern="1200" dirty="0"/>
            <a:t> participation </a:t>
          </a:r>
          <a:r>
            <a:rPr lang="da-DK" sz="1600" kern="1200" dirty="0" err="1"/>
            <a:t>strategies</a:t>
          </a:r>
          <a:r>
            <a:rPr lang="da-DK" sz="1600" kern="1200" dirty="0"/>
            <a:t> have </a:t>
          </a:r>
          <a:r>
            <a:rPr lang="da-DK" sz="1600" kern="1200" dirty="0" err="1"/>
            <a:t>been</a:t>
          </a:r>
          <a:r>
            <a:rPr lang="da-DK" sz="1600" kern="1200" dirty="0"/>
            <a:t> </a:t>
          </a:r>
          <a:r>
            <a:rPr lang="da-DK" sz="1600" kern="1200" dirty="0" err="1"/>
            <a:t>formulated</a:t>
          </a:r>
          <a:r>
            <a:rPr lang="da-DK" sz="1600" kern="1200" dirty="0"/>
            <a:t> and </a:t>
          </a:r>
          <a:r>
            <a:rPr lang="da-DK" sz="1600" kern="1200" dirty="0" err="1"/>
            <a:t>tested</a:t>
          </a:r>
          <a:r>
            <a:rPr lang="da-DK" sz="1600" kern="1200" dirty="0"/>
            <a:t> – </a:t>
          </a:r>
          <a:r>
            <a:rPr lang="da-DK" sz="1600" kern="1200" dirty="0" err="1"/>
            <a:t>Obtaining</a:t>
          </a:r>
          <a:r>
            <a:rPr lang="da-DK" sz="1600" kern="1200" dirty="0"/>
            <a:t> up to 95.3% of optimal profits </a:t>
          </a:r>
          <a:r>
            <a:rPr lang="da-DK" sz="1600" kern="1200" dirty="0" err="1"/>
            <a:t>across</a:t>
          </a:r>
          <a:r>
            <a:rPr lang="da-DK" sz="1600" kern="1200" dirty="0"/>
            <a:t> a </a:t>
          </a:r>
          <a:r>
            <a:rPr lang="da-DK" sz="1600" kern="1200" dirty="0" err="1"/>
            <a:t>year</a:t>
          </a:r>
          <a:r>
            <a:rPr lang="da-DK" sz="1600" kern="1200" dirty="0"/>
            <a:t> (with no </a:t>
          </a:r>
          <a:r>
            <a:rPr lang="da-DK" sz="1600" kern="1200" dirty="0" err="1"/>
            <a:t>foresight</a:t>
          </a:r>
          <a:r>
            <a:rPr lang="da-DK" sz="1600" kern="1200" dirty="0"/>
            <a:t> </a:t>
          </a:r>
          <a:r>
            <a:rPr lang="da-DK" sz="1600" kern="1200" dirty="0" err="1"/>
            <a:t>capabilities</a:t>
          </a:r>
          <a:r>
            <a:rPr lang="da-DK" sz="1600" kern="1200" dirty="0"/>
            <a:t>).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Obtaining a good estimate of a strike price for the fuel production makes the market participation strategy straightforward and robust against poor short-term forecasting capabilities.</a:t>
          </a:r>
        </a:p>
      </dsp:txBody>
      <dsp:txXfrm>
        <a:off x="0" y="2814444"/>
        <a:ext cx="10515600" cy="1531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39541-DEDF-4878-AFA7-47C669C96AE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764C2-ECF9-4F67-B7BA-C502CEFBA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8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764C2-ECF9-4F67-B7BA-C502CEFBAC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2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Computatinal</a:t>
            </a:r>
            <a:r>
              <a:rPr lang="da-DK" dirty="0"/>
              <a:t> </a:t>
            </a:r>
            <a:r>
              <a:rPr lang="da-DK" dirty="0" err="1"/>
              <a:t>costs</a:t>
            </a:r>
            <a:r>
              <a:rPr lang="da-DK" dirty="0"/>
              <a:t>: Write </a:t>
            </a:r>
            <a:r>
              <a:rPr lang="da-DK" dirty="0" err="1"/>
              <a:t>solver</a:t>
            </a:r>
            <a:r>
              <a:rPr lang="da-DK" dirty="0"/>
              <a:t> and 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language</a:t>
            </a:r>
            <a:r>
              <a:rPr lang="da-DK" dirty="0"/>
              <a:t>: (</a:t>
            </a:r>
            <a:r>
              <a:rPr lang="da-DK" dirty="0" err="1"/>
              <a:t>implementation</a:t>
            </a:r>
            <a:r>
              <a:rPr lang="da-DK" dirty="0"/>
              <a:t> (</a:t>
            </a:r>
            <a:r>
              <a:rPr lang="da-DK" dirty="0" err="1"/>
              <a:t>Pyomo</a:t>
            </a:r>
            <a:r>
              <a:rPr lang="da-DK" dirty="0"/>
              <a:t>, </a:t>
            </a:r>
            <a:r>
              <a:rPr lang="da-DK" dirty="0" err="1"/>
              <a:t>python</a:t>
            </a:r>
            <a:r>
              <a:rPr lang="da-DK" dirty="0"/>
              <a:t>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764C2-ECF9-4F67-B7BA-C502CEFBAC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4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0A46-6830-70DA-8AD6-10953A6F6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062A8-9591-28BB-95B3-E950F2029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E25E-7E95-F910-7D83-2075B983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109C8-77D6-A9B6-6545-9F989BD0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D572A-A5C0-87D1-A412-4C822A79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6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F73C2-4C84-7B0E-E9DC-593C5949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7739-A7BF-3DFE-9C9F-CE78839DD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D3A6D-EF9E-DB11-91F9-82BE4DD1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0E4F-B227-AEC1-987C-9B3D2BBC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38294-8575-B090-4B73-FD01047B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44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101D-69D9-2C99-4A5D-F4D219EB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B4E83-65BB-CB9A-16E7-B2F13A027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19AE8-EB6E-E6D2-4183-14FF726F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F4153-FC96-45CA-A625-8E8F8687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4A80-4289-5E1E-EF97-9F869A02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8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2151-AF57-5096-22BE-43CE2730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B93D-AAE3-6744-4590-1E5B10F08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9318D-E9DF-8280-CA01-53E7086B8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65C0B-42BE-F192-2589-24A01882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E37E9-B8D6-253B-39E9-7B76009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83319-67F3-9C2A-E292-EB559226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9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B28E-4DF3-690C-CB24-E3BFF3482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507C4-B409-D25A-A40A-1FEAE9021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0DA1C-1AD1-0B66-EF93-3A9E81B0F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3349F-AFF5-66EE-34E4-A559FD8C7F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8C813-19FC-26E7-3CA5-F507F321B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1CC123-4EE9-DE7B-A58D-A3CA12AC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1C80-F798-A35E-75B4-4C11C397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4CF119-BFBE-E274-EFF2-102F5F5C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2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081F-0C7E-009B-D06C-A2726C83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3DBCF0-0F39-005E-6A55-FE87392F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1609E-EC07-2DB6-32D1-21A59BABD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EB74E-F16F-3AB5-9726-F9BE6064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2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7384A-AE10-1420-80F0-C7731E8A4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1A37B-CA34-B0B9-898C-1E4DB7C4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2E92-132A-A356-8186-97114589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8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0491-29BE-838F-D804-166E4FB27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534C-B09F-F98C-B7C2-03172807E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54E03-63B5-B6BE-0FB3-CF40B92E6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52B07-087E-FA58-FEF8-2447EDB3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BCE9A-61F9-07F8-7AB0-7DCFE1CC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1CAB4-103A-2092-2AAE-2761481C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5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056B-89BC-53F1-D3F3-B6B46B51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91E5A-3094-3E5A-C92D-10E724570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2DDA8-EB36-4268-233D-841A90C7E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5575E-2E8F-D45C-F656-C191EC76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D05FE-88C6-09EC-EF15-14C43ADD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E8F3-1EC5-7564-A112-EAC69143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0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40B0-345F-031C-856E-ABA4E758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DBEDB-F5E1-D7DA-56A5-6834C7CF3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CEF74-7FFB-FA0E-3610-ADEF9A72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27B7C-E466-649A-EFD2-AF0E3219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35D3E-7261-4B9B-BEFB-FA86E837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63600-18C1-8CBB-3B83-34E4D64CA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BCCC0-F343-1771-DA71-2FB414301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51537-F1D1-0A7C-043F-2F0F55EF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C8668-63CC-F119-86FC-AD151CCD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7E95-0DA9-7757-6A1B-9F3CEF45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0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492D3-A332-25BD-7AFE-F81B96E5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4E83D-F78C-EA08-D472-FC1311B27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12BE2-D91F-91E2-BD7E-51E9DE092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3CBEB-9329-4BF1-8786-36DE1A841F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22D63-C131-22B0-B6C4-E0CFDF93D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7542-8370-2B57-BBE7-65D0DE85E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71B89-04CF-44ED-85EF-45446385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D800-D4D8-1435-0BE8-24983DF84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30287"/>
          </a:xfrm>
        </p:spPr>
        <p:txBody>
          <a:bodyPr/>
          <a:lstStyle/>
          <a:p>
            <a:r>
              <a:rPr lang="da-DK" dirty="0" err="1"/>
              <a:t>Publication</a:t>
            </a:r>
            <a:r>
              <a:rPr lang="da-DK" dirty="0"/>
              <a:t> of </a:t>
            </a:r>
            <a:r>
              <a:rPr lang="da-DK" dirty="0" err="1"/>
              <a:t>thesis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F6C8A-22CE-6A19-22A2-166C6B32C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66950"/>
            <a:ext cx="9144000" cy="2990850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da-DK" dirty="0"/>
              <a:t>09/04-2026</a:t>
            </a:r>
          </a:p>
          <a:p>
            <a:pPr algn="l"/>
            <a:r>
              <a:rPr lang="en-US" b="1" dirty="0"/>
              <a:t>Agenda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Catch up: What was the topic of the thesis? # 10 minutes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RQs and methods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Findings and future work ideas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Recent extended work and findings (since the defense)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Potential article storylines # 15 minutes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The opportunity cost of electricity sales - navigating offtake contracts in renewable fuel production planning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Decision support for contracted renewable fuel production - contract structures and risk profiles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Other?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Target journal/conference # 10 minutes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Planning next meeting # 2 minutes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5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7179-C533-19EA-DD16-967D6302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8FF153-70A4-B7E1-9480-DE7C8760DD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9453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8365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EB3A-A3A0-1B8A-AC40-4BA8709B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3D6E-2118-13FD-B77C-FA3CBC08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1990E-B5E1-BBDE-CDFF-B9B1E8D4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4400" cy="4351338"/>
          </a:xfrm>
        </p:spPr>
        <p:txBody>
          <a:bodyPr>
            <a:normAutofit/>
          </a:bodyPr>
          <a:lstStyle/>
          <a:p>
            <a:pPr lvl="0"/>
            <a:r>
              <a:rPr lang="da-DK" dirty="0" err="1"/>
              <a:t>Portuguese</a:t>
            </a:r>
            <a:r>
              <a:rPr lang="da-DK" dirty="0"/>
              <a:t> H2 and NH3 </a:t>
            </a:r>
            <a:r>
              <a:rPr lang="da-DK" dirty="0" err="1"/>
              <a:t>synthesis</a:t>
            </a:r>
            <a:r>
              <a:rPr lang="da-DK" dirty="0"/>
              <a:t> plant. Large-</a:t>
            </a:r>
            <a:r>
              <a:rPr lang="da-DK" dirty="0" err="1"/>
              <a:t>scale</a:t>
            </a:r>
            <a:r>
              <a:rPr lang="da-DK" dirty="0"/>
              <a:t>, </a:t>
            </a:r>
            <a:r>
              <a:rPr lang="da-DK" dirty="0" err="1"/>
              <a:t>grid-connected</a:t>
            </a:r>
            <a:r>
              <a:rPr lang="da-DK" dirty="0"/>
              <a:t>.</a:t>
            </a:r>
            <a:endParaRPr lang="en-US" dirty="0"/>
          </a:p>
          <a:p>
            <a:pPr lvl="0"/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linear</a:t>
            </a:r>
            <a:r>
              <a:rPr lang="da-DK" dirty="0"/>
              <a:t> rolling </a:t>
            </a:r>
            <a:r>
              <a:rPr lang="da-DK" dirty="0" err="1"/>
              <a:t>horizon</a:t>
            </a:r>
            <a:r>
              <a:rPr lang="da-DK" dirty="0"/>
              <a:t> decision-</a:t>
            </a:r>
            <a:r>
              <a:rPr lang="da-DK" dirty="0" err="1"/>
              <a:t>making</a:t>
            </a:r>
            <a:r>
              <a:rPr lang="da-DK" dirty="0"/>
              <a:t> model - not </a:t>
            </a:r>
            <a:r>
              <a:rPr lang="da-DK" dirty="0" err="1"/>
              <a:t>modelling</a:t>
            </a:r>
            <a:r>
              <a:rPr lang="da-DK" dirty="0"/>
              <a:t> </a:t>
            </a:r>
            <a:r>
              <a:rPr lang="da-DK" dirty="0" err="1"/>
              <a:t>inflexible</a:t>
            </a:r>
            <a:r>
              <a:rPr lang="da-DK" dirty="0"/>
              <a:t> plant units.</a:t>
            </a:r>
            <a:endParaRPr lang="en-US" dirty="0"/>
          </a:p>
          <a:p>
            <a:endParaRPr lang="da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E4F6A-3269-F9B3-250D-0A80491EEAC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5422" y="2640786"/>
            <a:ext cx="6656412" cy="38520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1EF993-FF37-F527-CB80-8D959155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421" y="365125"/>
            <a:ext cx="6656412" cy="204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1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249F-CB17-A553-A8BD-368893E7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5768-F3DC-5AF8-B2A5-D8FE9729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avenues – recent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AFDD4-BDC1-4983-04C8-082736015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effectLst/>
              </a:rPr>
              <a:t>How does the methodology handle non-linearity and inflexibility of plant units?</a:t>
            </a:r>
          </a:p>
          <a:p>
            <a:pPr lvl="1"/>
            <a:r>
              <a:rPr lang="en-US" dirty="0">
                <a:effectLst/>
              </a:rPr>
              <a:t>Keeping the linear model formulation, I model non-linear efficiency curves of the electrolyzer and the ammonia synthesis unit.</a:t>
            </a:r>
          </a:p>
          <a:p>
            <a:r>
              <a:rPr lang="en-US" dirty="0">
                <a:effectLst/>
              </a:rPr>
              <a:t>What is the dependency </a:t>
            </a:r>
            <a:r>
              <a:rPr lang="en-US" dirty="0"/>
              <a:t>on accurate assessment of long-term price trends?</a:t>
            </a:r>
            <a:endParaRPr lang="en-US" dirty="0">
              <a:effectLst/>
            </a:endParaRPr>
          </a:p>
          <a:p>
            <a:pPr lvl="1"/>
            <a:r>
              <a:rPr lang="da-DK" dirty="0" err="1"/>
              <a:t>Instead</a:t>
            </a:r>
            <a:r>
              <a:rPr lang="da-DK" dirty="0"/>
              <a:t> of </a:t>
            </a:r>
            <a:r>
              <a:rPr lang="da-DK" dirty="0" err="1"/>
              <a:t>simulating</a:t>
            </a:r>
            <a:r>
              <a:rPr lang="da-DK" dirty="0"/>
              <a:t> the </a:t>
            </a:r>
            <a:r>
              <a:rPr lang="da-DK" dirty="0" err="1"/>
              <a:t>realizations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the DGM, I </a:t>
            </a:r>
            <a:r>
              <a:rPr lang="da-DK" dirty="0" err="1"/>
              <a:t>now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backcast</a:t>
            </a:r>
            <a:r>
              <a:rPr lang="da-DK" dirty="0"/>
              <a:t> on the 8 </a:t>
            </a:r>
            <a:r>
              <a:rPr lang="da-DK" dirty="0" err="1"/>
              <a:t>years</a:t>
            </a:r>
            <a:r>
              <a:rPr lang="da-DK" dirty="0"/>
              <a:t> from 2017 to 2024, </a:t>
            </a:r>
            <a:r>
              <a:rPr lang="da-DK" dirty="0" err="1"/>
              <a:t>testing</a:t>
            </a:r>
            <a:r>
              <a:rPr lang="da-DK" dirty="0"/>
              <a:t> the </a:t>
            </a:r>
            <a:r>
              <a:rPr lang="da-DK" dirty="0" err="1"/>
              <a:t>combined</a:t>
            </a:r>
            <a:r>
              <a:rPr lang="da-DK" dirty="0"/>
              <a:t> performance of forecast </a:t>
            </a:r>
            <a:r>
              <a:rPr lang="da-DK" dirty="0" err="1"/>
              <a:t>capabilities</a:t>
            </a:r>
            <a:r>
              <a:rPr lang="da-DK" dirty="0"/>
              <a:t> and decision-</a:t>
            </a:r>
            <a:r>
              <a:rPr lang="da-DK" dirty="0" err="1"/>
              <a:t>making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.</a:t>
            </a:r>
          </a:p>
          <a:p>
            <a:r>
              <a:rPr lang="da-DK" dirty="0" err="1"/>
              <a:t>Better</a:t>
            </a:r>
            <a:r>
              <a:rPr lang="da-DK" dirty="0"/>
              <a:t> alternative </a:t>
            </a:r>
            <a:r>
              <a:rPr lang="da-DK" dirty="0" err="1"/>
              <a:t>strategies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perfect</a:t>
            </a:r>
            <a:r>
              <a:rPr lang="da-DK" dirty="0"/>
              <a:t> </a:t>
            </a:r>
            <a:r>
              <a:rPr lang="da-DK" dirty="0" err="1"/>
              <a:t>foresight</a:t>
            </a:r>
            <a:r>
              <a:rPr lang="da-DK" dirty="0"/>
              <a:t> and </a:t>
            </a:r>
            <a:r>
              <a:rPr lang="da-DK" dirty="0" err="1"/>
              <a:t>fixed</a:t>
            </a:r>
            <a:r>
              <a:rPr lang="da-DK" dirty="0"/>
              <a:t> </a:t>
            </a:r>
            <a:r>
              <a:rPr lang="da-DK" dirty="0" err="1"/>
              <a:t>hourly</a:t>
            </a:r>
            <a:r>
              <a:rPr lang="da-DK" dirty="0"/>
              <a:t> </a:t>
            </a:r>
            <a:r>
              <a:rPr lang="da-DK" dirty="0" err="1"/>
              <a:t>production</a:t>
            </a:r>
            <a:r>
              <a:rPr lang="da-DK" dirty="0"/>
              <a:t>.</a:t>
            </a:r>
          </a:p>
          <a:p>
            <a:pPr lvl="1"/>
            <a:r>
              <a:rPr lang="da-DK" dirty="0" err="1"/>
              <a:t>Aggregate</a:t>
            </a:r>
            <a:r>
              <a:rPr lang="da-DK" dirty="0"/>
              <a:t> model and </a:t>
            </a:r>
            <a:r>
              <a:rPr lang="da-DK" dirty="0" err="1"/>
              <a:t>receding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 model </a:t>
            </a:r>
            <a:r>
              <a:rPr lang="da-DK" dirty="0" err="1"/>
              <a:t>proposed</a:t>
            </a:r>
            <a:r>
              <a:rPr lang="da-DK" dirty="0"/>
              <a:t> and </a:t>
            </a:r>
            <a:r>
              <a:rPr lang="da-DK" dirty="0" err="1"/>
              <a:t>tested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281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1B7F-BC53-E14E-3BD9-53733978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Non-linear </a:t>
            </a:r>
            <a:r>
              <a:rPr lang="da-DK" dirty="0" err="1"/>
              <a:t>efficiency</a:t>
            </a:r>
            <a:r>
              <a:rPr lang="da-DK" dirty="0"/>
              <a:t> </a:t>
            </a:r>
            <a:r>
              <a:rPr lang="da-DK" dirty="0" err="1"/>
              <a:t>curves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FFF4B1-E436-DA23-E9FC-0767C5A1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685"/>
          <a:stretch>
            <a:fillRect/>
          </a:stretch>
        </p:blipFill>
        <p:spPr>
          <a:xfrm>
            <a:off x="1027910" y="1868380"/>
            <a:ext cx="2848765" cy="2207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294C56-32EC-0EA9-2D0F-E62847FC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10" y="4253208"/>
            <a:ext cx="2848765" cy="2231201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8400300-9159-5CB6-12AB-AEE52455B4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473416"/>
              </p:ext>
            </p:extLst>
          </p:nvPr>
        </p:nvGraphicFramePr>
        <p:xfrm>
          <a:off x="6429375" y="1868380"/>
          <a:ext cx="4572000" cy="236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7A1BB8-11CF-7002-EABF-5F056BFB5E1C}"/>
              </a:ext>
            </a:extLst>
          </p:cNvPr>
          <p:cNvSpPr txBox="1"/>
          <p:nvPr/>
        </p:nvSpPr>
        <p:spPr>
          <a:xfrm>
            <a:off x="94297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Alkaline</a:t>
            </a:r>
            <a:r>
              <a:rPr lang="da-DK" b="1" dirty="0"/>
              <a:t> Electrolyzer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52789-9F8D-E5B1-E6C6-FD3AF014AE21}"/>
              </a:ext>
            </a:extLst>
          </p:cNvPr>
          <p:cNvSpPr txBox="1"/>
          <p:nvPr/>
        </p:nvSpPr>
        <p:spPr>
          <a:xfrm>
            <a:off x="724852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Haber</a:t>
            </a:r>
            <a:r>
              <a:rPr lang="da-DK" b="1" dirty="0"/>
              <a:t> Bosch Unit</a:t>
            </a:r>
            <a:endParaRPr lang="en-US" b="1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27ACD6D-E8F0-E6EC-3DFB-7E972893B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6094277"/>
              </p:ext>
            </p:extLst>
          </p:nvPr>
        </p:nvGraphicFramePr>
        <p:xfrm>
          <a:off x="6429375" y="4075515"/>
          <a:ext cx="4572000" cy="278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6686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B072-947D-9317-2AB8-BBC4E3E0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65C3-C8E1-4C9F-D304-A6A2896E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Non-linear </a:t>
            </a:r>
            <a:r>
              <a:rPr lang="da-DK" dirty="0" err="1"/>
              <a:t>efficiency</a:t>
            </a:r>
            <a:r>
              <a:rPr lang="da-DK" dirty="0"/>
              <a:t> </a:t>
            </a:r>
            <a:r>
              <a:rPr lang="da-DK" dirty="0" err="1"/>
              <a:t>curves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9D2177-66FD-841E-74CC-BFF0C31E7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10" y="4253208"/>
            <a:ext cx="2848765" cy="22312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1E2336-5CC5-66E1-5CD2-21402C8C8E06}"/>
              </a:ext>
            </a:extLst>
          </p:cNvPr>
          <p:cNvSpPr txBox="1"/>
          <p:nvPr/>
        </p:nvSpPr>
        <p:spPr>
          <a:xfrm>
            <a:off x="94297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Alkaline</a:t>
            </a:r>
            <a:r>
              <a:rPr lang="da-DK" b="1" dirty="0"/>
              <a:t> Electrolyzer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B00A08-8324-656F-C962-91046F0F6C1B}"/>
              </a:ext>
            </a:extLst>
          </p:cNvPr>
          <p:cNvSpPr txBox="1"/>
          <p:nvPr/>
        </p:nvSpPr>
        <p:spPr>
          <a:xfrm>
            <a:off x="7248525" y="141922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Haber</a:t>
            </a:r>
            <a:r>
              <a:rPr lang="da-DK" b="1" dirty="0"/>
              <a:t> Bosch Unit</a:t>
            </a:r>
            <a:endParaRPr lang="en-US" b="1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74B316C-C0FC-9682-FF9E-F0E323C957AB}"/>
              </a:ext>
            </a:extLst>
          </p:cNvPr>
          <p:cNvGraphicFramePr>
            <a:graphicFrameLocks/>
          </p:cNvGraphicFramePr>
          <p:nvPr/>
        </p:nvGraphicFramePr>
        <p:xfrm>
          <a:off x="6429375" y="4075515"/>
          <a:ext cx="4572000" cy="278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FA8F6BF-36ED-CCFA-5EB9-3E9AD96DF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122" y="1782964"/>
            <a:ext cx="2933700" cy="21946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2A7DD9-F691-E656-1675-53414E326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910" y="1782964"/>
            <a:ext cx="2933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8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FC0F-6958-1A02-3D45-17E3CB234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Non-linear </a:t>
            </a:r>
            <a:r>
              <a:rPr lang="da-DK" dirty="0" err="1"/>
              <a:t>efficiency</a:t>
            </a:r>
            <a:r>
              <a:rPr lang="da-DK" dirty="0"/>
              <a:t> </a:t>
            </a:r>
            <a:r>
              <a:rPr lang="da-DK" dirty="0" err="1"/>
              <a:t>curves</a:t>
            </a:r>
            <a:r>
              <a:rPr lang="da-DK" dirty="0"/>
              <a:t> - </a:t>
            </a:r>
            <a:r>
              <a:rPr lang="da-DK" dirty="0" err="1"/>
              <a:t>sources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3E096-4600-DC5D-2115-934A9B5B0CF0}"/>
              </a:ext>
            </a:extLst>
          </p:cNvPr>
          <p:cNvSpPr txBox="1"/>
          <p:nvPr/>
        </p:nvSpPr>
        <p:spPr>
          <a:xfrm>
            <a:off x="344786" y="1419225"/>
            <a:ext cx="575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Alkaline</a:t>
            </a:r>
            <a:r>
              <a:rPr lang="da-DK" b="1" dirty="0"/>
              <a:t> Electrolyzer</a:t>
            </a:r>
          </a:p>
          <a:p>
            <a:pPr algn="ctr"/>
            <a:r>
              <a:rPr lang="en-US" dirty="0"/>
              <a:t>A conic model for electrolyzer scheduling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52AC2-2C3E-5E88-4F78-1D0E3FA21F45}"/>
              </a:ext>
            </a:extLst>
          </p:cNvPr>
          <p:cNvSpPr txBox="1"/>
          <p:nvPr/>
        </p:nvSpPr>
        <p:spPr>
          <a:xfrm>
            <a:off x="6096000" y="1419225"/>
            <a:ext cx="5751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 err="1"/>
              <a:t>Haber</a:t>
            </a:r>
            <a:r>
              <a:rPr lang="da-DK" b="1" dirty="0"/>
              <a:t> Bosch Unit</a:t>
            </a:r>
          </a:p>
          <a:p>
            <a:pPr algn="ctr"/>
            <a:r>
              <a:rPr lang="en-US" dirty="0"/>
              <a:t>Heat integration and part-load performance of an SOEC-coupled Haber–Bosch process</a:t>
            </a:r>
          </a:p>
          <a:p>
            <a:pPr algn="ctr"/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F290F2-8E1E-2ECB-0EFC-F82C5F44A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1257" y="2473640"/>
            <a:ext cx="3880699" cy="43513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A185FB8-4BAF-F589-0A3C-97BCB8203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29" y="3533325"/>
            <a:ext cx="4959927" cy="223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57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7280-7EE1-6F83-18B5-58AC4612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Backcasting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63B56-D5DC-DE41-7627-2C122D1AD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da-DK" dirty="0"/>
              <a:t>13 </a:t>
            </a:r>
            <a:r>
              <a:rPr lang="da-DK" dirty="0" err="1"/>
              <a:t>month</a:t>
            </a:r>
            <a:r>
              <a:rPr lang="da-DK" dirty="0"/>
              <a:t> long-term </a:t>
            </a:r>
            <a:r>
              <a:rPr lang="da-DK" dirty="0" err="1"/>
              <a:t>horizon</a:t>
            </a:r>
            <a:r>
              <a:rPr lang="da-DK" dirty="0"/>
              <a:t> –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aware</a:t>
            </a:r>
            <a:r>
              <a:rPr lang="da-DK" dirty="0"/>
              <a:t> of the coming </a:t>
            </a:r>
            <a:r>
              <a:rPr lang="da-DK" dirty="0" err="1"/>
              <a:t>year</a:t>
            </a:r>
            <a:r>
              <a:rPr lang="da-DK" dirty="0"/>
              <a:t> </a:t>
            </a:r>
            <a:r>
              <a:rPr lang="da-DK" dirty="0" err="1"/>
              <a:t>ahead</a:t>
            </a:r>
            <a:r>
              <a:rPr lang="da-DK" dirty="0"/>
              <a:t> of time.</a:t>
            </a:r>
          </a:p>
          <a:p>
            <a:r>
              <a:rPr lang="da-DK" dirty="0"/>
              <a:t>Showcases the </a:t>
            </a:r>
            <a:r>
              <a:rPr lang="da-DK" dirty="0" err="1"/>
              <a:t>effects</a:t>
            </a:r>
            <a:r>
              <a:rPr lang="da-DK" dirty="0"/>
              <a:t> of real </a:t>
            </a:r>
            <a:r>
              <a:rPr lang="da-DK" dirty="0" err="1"/>
              <a:t>market</a:t>
            </a:r>
            <a:r>
              <a:rPr lang="da-DK" dirty="0"/>
              <a:t> disruptions on the </a:t>
            </a:r>
            <a:r>
              <a:rPr lang="da-DK" dirty="0" err="1"/>
              <a:t>ability</a:t>
            </a:r>
            <a:r>
              <a:rPr lang="da-DK" dirty="0"/>
              <a:t> to </a:t>
            </a:r>
            <a:r>
              <a:rPr lang="da-DK" dirty="0" err="1"/>
              <a:t>operate</a:t>
            </a:r>
            <a:r>
              <a:rPr lang="da-DK" dirty="0"/>
              <a:t> </a:t>
            </a:r>
            <a:r>
              <a:rPr lang="da-DK" dirty="0" err="1"/>
              <a:t>optimally</a:t>
            </a:r>
            <a:r>
              <a:rPr lang="da-DK" dirty="0"/>
              <a:t>.</a:t>
            </a:r>
          </a:p>
          <a:p>
            <a:r>
              <a:rPr lang="da-DK" dirty="0"/>
              <a:t>Preliminary run: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14166E-52B3-7D74-5881-120F376D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82"/>
            <a:ext cx="10226754" cy="6817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A6B510-8077-2A79-98EE-299D44F3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62228" y="1245612"/>
            <a:ext cx="9058656" cy="64704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31FF7E-7690-407B-8AB0-143CC71BA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751" y="1498046"/>
            <a:ext cx="4656818" cy="250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2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9C16-3325-E53C-949F-FBB14610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Better</a:t>
            </a:r>
            <a:r>
              <a:rPr lang="da-DK" dirty="0"/>
              <a:t> </a:t>
            </a:r>
            <a:r>
              <a:rPr lang="da-DK" dirty="0" err="1"/>
              <a:t>benchmarks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D3C96-6657-2229-EACB-C89A3ACBC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Receding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: Make a large model </a:t>
            </a:r>
            <a:r>
              <a:rPr lang="da-DK" dirty="0" err="1"/>
              <a:t>every</a:t>
            </a:r>
            <a:r>
              <a:rPr lang="da-DK" dirty="0"/>
              <a:t> </a:t>
            </a:r>
            <a:r>
              <a:rPr lang="da-DK" dirty="0" err="1"/>
              <a:t>day</a:t>
            </a:r>
            <a:r>
              <a:rPr lang="da-DK" dirty="0"/>
              <a:t> </a:t>
            </a:r>
            <a:r>
              <a:rPr lang="da-DK" dirty="0" err="1"/>
              <a:t>including</a:t>
            </a:r>
            <a:r>
              <a:rPr lang="da-DK" dirty="0"/>
              <a:t> all time steps in the </a:t>
            </a:r>
            <a:r>
              <a:rPr lang="da-DK" dirty="0" err="1"/>
              <a:t>year-ahead</a:t>
            </a:r>
            <a:r>
              <a:rPr lang="da-DK" dirty="0"/>
              <a:t> problem. </a:t>
            </a:r>
            <a:r>
              <a:rPr lang="da-DK" dirty="0" err="1"/>
              <a:t>Slow</a:t>
            </a:r>
            <a:r>
              <a:rPr lang="da-DK" dirty="0"/>
              <a:t> put </a:t>
            </a:r>
            <a:r>
              <a:rPr lang="da-DK" dirty="0" err="1"/>
              <a:t>precise</a:t>
            </a:r>
            <a:r>
              <a:rPr lang="da-DK" dirty="0"/>
              <a:t>.</a:t>
            </a:r>
          </a:p>
          <a:p>
            <a:r>
              <a:rPr lang="da-DK" dirty="0" err="1"/>
              <a:t>Aggregate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: </a:t>
            </a:r>
            <a:r>
              <a:rPr lang="da-DK" dirty="0" err="1"/>
              <a:t>Create</a:t>
            </a:r>
            <a:r>
              <a:rPr lang="da-DK" dirty="0"/>
              <a:t> 1 extra time step (</a:t>
            </a:r>
            <a:r>
              <a:rPr lang="da-DK" dirty="0" err="1"/>
              <a:t>after</a:t>
            </a:r>
            <a:r>
              <a:rPr lang="da-DK" dirty="0"/>
              <a:t> the 96 hour </a:t>
            </a:r>
            <a:r>
              <a:rPr lang="da-DK" dirty="0" err="1"/>
              <a:t>planning</a:t>
            </a:r>
            <a:r>
              <a:rPr lang="da-DK" dirty="0"/>
              <a:t> </a:t>
            </a:r>
            <a:r>
              <a:rPr lang="da-DK" dirty="0" err="1"/>
              <a:t>horizon</a:t>
            </a:r>
            <a:r>
              <a:rPr lang="da-DK" dirty="0"/>
              <a:t>)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aggregates</a:t>
            </a:r>
            <a:r>
              <a:rPr lang="da-DK" dirty="0"/>
              <a:t> the </a:t>
            </a:r>
            <a:r>
              <a:rPr lang="da-DK" dirty="0" err="1"/>
              <a:t>remaining</a:t>
            </a:r>
            <a:r>
              <a:rPr lang="da-DK" dirty="0"/>
              <a:t> ~8000 hours of flows and </a:t>
            </a:r>
            <a:r>
              <a:rPr lang="da-DK" dirty="0" err="1"/>
              <a:t>trade</a:t>
            </a:r>
            <a:r>
              <a:rPr lang="da-DK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3DAF4-8DA0-4BD2-73A0-571485FEB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24528"/>
            <a:ext cx="4439556" cy="2501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BCDA3-4442-0244-DA1F-826340366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515" y="4124528"/>
            <a:ext cx="4439556" cy="254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72B2D-BFF8-22D5-4B39-DC3D4221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Focus of </a:t>
            </a:r>
            <a:r>
              <a:rPr lang="da-DK" dirty="0" err="1"/>
              <a:t>article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8F52-CBC3-6669-7F98-D3C24E018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The opportunity cost of electricity sales - navigating offtake contracts in renewable fuel production planning</a:t>
            </a:r>
          </a:p>
          <a:p>
            <a:pPr marL="800100" lvl="1" indent="-342900"/>
            <a:r>
              <a:rPr lang="en-US" dirty="0"/>
              <a:t>Focusing on the ISP methodology.</a:t>
            </a:r>
          </a:p>
          <a:p>
            <a:pPr marL="342900" indent="-342900"/>
            <a:r>
              <a:rPr lang="en-US" dirty="0"/>
              <a:t>Decision support for contracted renewable fuel production - contract structures and risk profiles</a:t>
            </a:r>
          </a:p>
          <a:p>
            <a:pPr marL="800100" lvl="1" indent="-342900"/>
            <a:r>
              <a:rPr lang="en-US" dirty="0"/>
              <a:t>Focusing on a decision support framework for identifying “optimal” offtake contract structure.</a:t>
            </a:r>
          </a:p>
          <a:p>
            <a:pPr marL="342900" indent="-342900"/>
            <a:r>
              <a:rPr lang="en-US" dirty="0"/>
              <a:t>Other?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230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25AE-F59C-10F9-4FA9-AC39DE1C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journal/conference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C1AE7-69EB-929A-6ADD-D15D54A96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Energy </a:t>
            </a:r>
            <a:r>
              <a:rPr lang="da-DK" dirty="0" err="1"/>
              <a:t>Economics</a:t>
            </a:r>
            <a:endParaRPr lang="da-DK" dirty="0"/>
          </a:p>
          <a:p>
            <a:pPr lvl="1"/>
            <a:r>
              <a:rPr lang="da-DK" dirty="0" err="1"/>
              <a:t>Maybe</a:t>
            </a:r>
            <a:r>
              <a:rPr lang="da-DK" dirty="0"/>
              <a:t> most </a:t>
            </a:r>
            <a:r>
              <a:rPr lang="da-DK" dirty="0" err="1"/>
              <a:t>prolific</a:t>
            </a:r>
            <a:r>
              <a:rPr lang="da-DK" dirty="0"/>
              <a:t>/most </a:t>
            </a:r>
            <a:r>
              <a:rPr lang="da-DK" dirty="0" err="1"/>
              <a:t>difficult</a:t>
            </a:r>
            <a:r>
              <a:rPr lang="da-DK" dirty="0"/>
              <a:t>.</a:t>
            </a:r>
          </a:p>
          <a:p>
            <a:r>
              <a:rPr lang="da-DK" dirty="0"/>
              <a:t>Applied Energy</a:t>
            </a:r>
          </a:p>
          <a:p>
            <a:pPr lvl="1"/>
            <a:r>
              <a:rPr lang="da-DK" dirty="0"/>
              <a:t>Has </a:t>
            </a:r>
            <a:r>
              <a:rPr lang="da-DK" dirty="0" err="1"/>
              <a:t>published</a:t>
            </a:r>
            <a:r>
              <a:rPr lang="da-DK" dirty="0"/>
              <a:t> a </a:t>
            </a:r>
            <a:r>
              <a:rPr lang="da-DK" dirty="0" err="1"/>
              <a:t>lot</a:t>
            </a:r>
            <a:r>
              <a:rPr lang="da-DK" dirty="0"/>
              <a:t> of </a:t>
            </a:r>
            <a:r>
              <a:rPr lang="da-DK" dirty="0" err="1"/>
              <a:t>similar</a:t>
            </a:r>
            <a:r>
              <a:rPr lang="da-DK" dirty="0"/>
              <a:t> studies.</a:t>
            </a:r>
          </a:p>
          <a:p>
            <a:r>
              <a:rPr lang="da-DK" dirty="0"/>
              <a:t>IAEE </a:t>
            </a:r>
            <a:r>
              <a:rPr lang="da-DK" dirty="0" err="1"/>
              <a:t>Munich</a:t>
            </a:r>
            <a:endParaRPr lang="da-DK" dirty="0"/>
          </a:p>
          <a:p>
            <a:pPr lvl="1"/>
            <a:r>
              <a:rPr lang="da-DK" dirty="0" err="1"/>
              <a:t>Opportunity</a:t>
            </a:r>
            <a:r>
              <a:rPr lang="da-DK" dirty="0"/>
              <a:t>. Abstract deadline </a:t>
            </a:r>
            <a:r>
              <a:rPr lang="da-DK" dirty="0" err="1"/>
              <a:t>tomorrow</a:t>
            </a:r>
            <a:r>
              <a:rPr lang="da-DK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591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4A59-7DB0-329E-77EF-4AD94F81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Next</a:t>
            </a:r>
            <a:r>
              <a:rPr lang="da-DK" dirty="0"/>
              <a:t> meeting(s)?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7B5A-364F-E98E-9CE0-22F5F28CD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Work distribution</a:t>
            </a:r>
          </a:p>
          <a:p>
            <a:r>
              <a:rPr lang="da-DK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25590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613</Words>
  <Application>Microsoft Office PowerPoint</Application>
  <PresentationFormat>Widescreen</PresentationFormat>
  <Paragraphs>80</Paragraphs>
  <Slides>12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Publication of thesis</vt:lpstr>
      <vt:lpstr>Thesis summary</vt:lpstr>
      <vt:lpstr>Case study</vt:lpstr>
      <vt:lpstr>Future work avenues – recent work</vt:lpstr>
      <vt:lpstr>Non-linear efficiency curves</vt:lpstr>
      <vt:lpstr>Non-linear efficiency curves</vt:lpstr>
      <vt:lpstr>Non-linear efficiency curves - sources</vt:lpstr>
      <vt:lpstr>Backcasting</vt:lpstr>
      <vt:lpstr>Better benchmarks</vt:lpstr>
      <vt:lpstr>Focus of article</vt:lpstr>
      <vt:lpstr>Target journal/conference</vt:lpstr>
      <vt:lpstr>Next meeting(s)?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Skou Fertin</dc:creator>
  <cp:lastModifiedBy>Frederik Skou Fertin</cp:lastModifiedBy>
  <cp:revision>1</cp:revision>
  <dcterms:created xsi:type="dcterms:W3CDTF">2026-04-09T06:16:25Z</dcterms:created>
  <dcterms:modified xsi:type="dcterms:W3CDTF">2026-04-10T13:17:40Z</dcterms:modified>
</cp:coreProperties>
</file>